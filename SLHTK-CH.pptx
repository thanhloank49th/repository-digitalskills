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Noto Serif Display Bold" charset="1" panose="02020802080505020204"/>
      <p:regular r:id="rId24"/>
    </p:embeddedFont>
    <p:embeddedFont>
      <p:font typeface="Noto Serif Display Semi-Bold" charset="1" panose="02020702080505020204"/>
      <p:regular r:id="rId25"/>
    </p:embeddedFont>
    <p:embeddedFont>
      <p:font typeface="Noto Serif Display" charset="1" panose="02020502080505020204"/>
      <p:regular r:id="rId26"/>
    </p:embeddedFont>
    <p:embeddedFont>
      <p:font typeface="Noto Sans" charset="1" panose="020B0502040504020204"/>
      <p:regular r:id="rId27"/>
    </p:embeddedFont>
    <p:embeddedFont>
      <p:font typeface="DejaVu Serif Bold" charset="1" panose="02060803050605020204"/>
      <p:regular r:id="rId28"/>
    </p:embeddedFont>
    <p:embeddedFont>
      <p:font typeface="DejaVu Serif" charset="1" panose="02060603050605020204"/>
      <p:regular r:id="rId29"/>
    </p:embeddedFont>
    <p:embeddedFont>
      <p:font typeface="Noto Serif Display Italics" charset="1" panose="02020502080505090204"/>
      <p:regular r:id="rId30"/>
    </p:embeddedFont>
    <p:embeddedFont>
      <p:font typeface="Noto Sans Bold" charset="1" panose="020B0802040504020204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27.png" Type="http://schemas.openxmlformats.org/officeDocument/2006/relationships/image"/><Relationship Id="rId13" Target="../media/image2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media/image31.svg" Type="http://schemas.openxmlformats.org/officeDocument/2006/relationships/image"/><Relationship Id="rId7" Target="../media/image32.png" Type="http://schemas.openxmlformats.org/officeDocument/2006/relationships/image"/><Relationship Id="rId8" Target="../media/image33.sv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Relationship Id="rId6" Target="../media/image38.png" Type="http://schemas.openxmlformats.org/officeDocument/2006/relationships/image"/><Relationship Id="rId7" Target="../media/image3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svg" Type="http://schemas.openxmlformats.org/officeDocument/2006/relationships/image"/><Relationship Id="rId4" Target="../media/image42.png" Type="http://schemas.openxmlformats.org/officeDocument/2006/relationships/image"/><Relationship Id="rId5" Target="../media/image43.svg" Type="http://schemas.openxmlformats.org/officeDocument/2006/relationships/image"/><Relationship Id="rId6" Target="../media/image44.png" Type="http://schemas.openxmlformats.org/officeDocument/2006/relationships/image"/><Relationship Id="rId7" Target="../media/image45.svg" Type="http://schemas.openxmlformats.org/officeDocument/2006/relationships/image"/><Relationship Id="rId8" Target="../media/image46.png" Type="http://schemas.openxmlformats.org/officeDocument/2006/relationships/image"/><Relationship Id="rId9" Target="../media/image4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svg" Type="http://schemas.openxmlformats.org/officeDocument/2006/relationships/image"/><Relationship Id="rId4" Target="../media/image42.png" Type="http://schemas.openxmlformats.org/officeDocument/2006/relationships/image"/><Relationship Id="rId5" Target="../media/image43.svg" Type="http://schemas.openxmlformats.org/officeDocument/2006/relationships/image"/><Relationship Id="rId6" Target="../media/image48.png" Type="http://schemas.openxmlformats.org/officeDocument/2006/relationships/image"/><Relationship Id="rId7" Target="../media/image49.svg" Type="http://schemas.openxmlformats.org/officeDocument/2006/relationships/image"/><Relationship Id="rId8" Target="../media/image50.png" Type="http://schemas.openxmlformats.org/officeDocument/2006/relationships/image"/><Relationship Id="rId9" Target="../media/image51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6.png" Type="http://schemas.openxmlformats.org/officeDocument/2006/relationships/image"/><Relationship Id="rId11" Target="../media/image57.svg" Type="http://schemas.openxmlformats.org/officeDocument/2006/relationships/image"/><Relationship Id="rId12" Target="../media/image7.png" Type="http://schemas.openxmlformats.org/officeDocument/2006/relationships/image"/><Relationship Id="rId13" Target="../media/image8.svg" Type="http://schemas.openxmlformats.org/officeDocument/2006/relationships/image"/><Relationship Id="rId14" Target="../media/image58.png" Type="http://schemas.openxmlformats.org/officeDocument/2006/relationships/image"/><Relationship Id="rId15" Target="../media/image59.svg" Type="http://schemas.openxmlformats.org/officeDocument/2006/relationships/image"/><Relationship Id="rId16" Target="../media/image60.png" Type="http://schemas.openxmlformats.org/officeDocument/2006/relationships/image"/><Relationship Id="rId17" Target="../media/image61.svg" Type="http://schemas.openxmlformats.org/officeDocument/2006/relationships/image"/><Relationship Id="rId18" Target="../media/image5.png" Type="http://schemas.openxmlformats.org/officeDocument/2006/relationships/image"/><Relationship Id="rId19" Target="../media/image6.svg" Type="http://schemas.openxmlformats.org/officeDocument/2006/relationships/image"/><Relationship Id="rId2" Target="../media/image1.png" Type="http://schemas.openxmlformats.org/officeDocument/2006/relationships/image"/><Relationship Id="rId20" Target="../media/image62.png" Type="http://schemas.openxmlformats.org/officeDocument/2006/relationships/image"/><Relationship Id="rId21" Target="../media/image63.svg" Type="http://schemas.openxmlformats.org/officeDocument/2006/relationships/image"/><Relationship Id="rId22" Target="../media/image64.png" Type="http://schemas.openxmlformats.org/officeDocument/2006/relationships/image"/><Relationship Id="rId23" Target="../media/image65.svg" Type="http://schemas.openxmlformats.org/officeDocument/2006/relationships/image"/><Relationship Id="rId24" Target="../media/image66.png" Type="http://schemas.openxmlformats.org/officeDocument/2006/relationships/image"/><Relationship Id="rId25" Target="../media/image67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2.png" Type="http://schemas.openxmlformats.org/officeDocument/2006/relationships/image"/><Relationship Id="rId7" Target="../media/image53.svg" Type="http://schemas.openxmlformats.org/officeDocument/2006/relationships/image"/><Relationship Id="rId8" Target="../media/image54.png" Type="http://schemas.openxmlformats.org/officeDocument/2006/relationships/image"/><Relationship Id="rId9" Target="../media/image5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4.png" Type="http://schemas.openxmlformats.org/officeDocument/2006/relationships/image"/><Relationship Id="rId11" Target="../media/image65.svg" Type="http://schemas.openxmlformats.org/officeDocument/2006/relationships/image"/><Relationship Id="rId12" Target="../media/image7.png" Type="http://schemas.openxmlformats.org/officeDocument/2006/relationships/image"/><Relationship Id="rId13" Target="../media/image8.svg" Type="http://schemas.openxmlformats.org/officeDocument/2006/relationships/image"/><Relationship Id="rId14" Target="../media/image60.png" Type="http://schemas.openxmlformats.org/officeDocument/2006/relationships/image"/><Relationship Id="rId15" Target="../media/image61.svg" Type="http://schemas.openxmlformats.org/officeDocument/2006/relationships/image"/><Relationship Id="rId16" Target="../media/image5.png" Type="http://schemas.openxmlformats.org/officeDocument/2006/relationships/image"/><Relationship Id="rId17" Target="../media/image6.svg" Type="http://schemas.openxmlformats.org/officeDocument/2006/relationships/image"/><Relationship Id="rId18" Target="../media/image62.png" Type="http://schemas.openxmlformats.org/officeDocument/2006/relationships/image"/><Relationship Id="rId19" Target="../media/image63.svg" Type="http://schemas.openxmlformats.org/officeDocument/2006/relationships/image"/><Relationship Id="rId2" Target="../media/image1.png" Type="http://schemas.openxmlformats.org/officeDocument/2006/relationships/image"/><Relationship Id="rId20" Target="../media/image66.png" Type="http://schemas.openxmlformats.org/officeDocument/2006/relationships/image"/><Relationship Id="rId21" Target="../media/image67.svg" Type="http://schemas.openxmlformats.org/officeDocument/2006/relationships/image"/><Relationship Id="rId22" Target="../media/image68.png" Type="http://schemas.openxmlformats.org/officeDocument/2006/relationships/image"/><Relationship Id="rId23" Target="../media/image69.svg" Type="http://schemas.openxmlformats.org/officeDocument/2006/relationships/image"/><Relationship Id="rId24" Target="../media/image52.png" Type="http://schemas.openxmlformats.org/officeDocument/2006/relationships/image"/><Relationship Id="rId25" Target="../media/image53.svg" Type="http://schemas.openxmlformats.org/officeDocument/2006/relationships/image"/><Relationship Id="rId3" Target="../media/image2.svg" Type="http://schemas.openxmlformats.org/officeDocument/2006/relationships/image"/><Relationship Id="rId4" Target="../media/image54.png" Type="http://schemas.openxmlformats.org/officeDocument/2006/relationships/image"/><Relationship Id="rId5" Target="../media/image55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6.png" Type="http://schemas.openxmlformats.org/officeDocument/2006/relationships/image"/><Relationship Id="rId9" Target="../media/image57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70.png" Type="http://schemas.openxmlformats.org/officeDocument/2006/relationships/image"/><Relationship Id="rId5" Target="../media/image71.png" Type="http://schemas.openxmlformats.org/officeDocument/2006/relationships/image"/><Relationship Id="rId6" Target="../media/image72.png" Type="http://schemas.openxmlformats.org/officeDocument/2006/relationships/image"/><Relationship Id="rId7" Target="../media/image73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svg" Type="http://schemas.openxmlformats.org/officeDocument/2006/relationships/image"/><Relationship Id="rId4" Target="../media/image74.png" Type="http://schemas.openxmlformats.org/officeDocument/2006/relationships/image"/><Relationship Id="rId5" Target="../media/image71.png" Type="http://schemas.openxmlformats.org/officeDocument/2006/relationships/image"/><Relationship Id="rId6" Target="../media/image72.png" Type="http://schemas.openxmlformats.org/officeDocument/2006/relationships/image"/><Relationship Id="rId7" Target="../media/image73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svg" Type="http://schemas.openxmlformats.org/officeDocument/2006/relationships/image"/><Relationship Id="rId4" Target="../media/image74.png" Type="http://schemas.openxmlformats.org/officeDocument/2006/relationships/image"/><Relationship Id="rId5" Target="../media/image75.png" Type="http://schemas.openxmlformats.org/officeDocument/2006/relationships/image"/><Relationship Id="rId6" Target="../media/image72.png" Type="http://schemas.openxmlformats.org/officeDocument/2006/relationships/image"/><Relationship Id="rId7" Target="../media/image73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6.png" Type="http://schemas.openxmlformats.org/officeDocument/2006/relationships/image"/><Relationship Id="rId5" Target="../media/image71.png" Type="http://schemas.openxmlformats.org/officeDocument/2006/relationships/image"/><Relationship Id="rId6" Target="../media/image72.png" Type="http://schemas.openxmlformats.org/officeDocument/2006/relationships/image"/><Relationship Id="rId7" Target="../media/image73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svg" Type="http://schemas.openxmlformats.org/officeDocument/2006/relationships/image"/><Relationship Id="rId4" Target="../media/image56.png" Type="http://schemas.openxmlformats.org/officeDocument/2006/relationships/image"/><Relationship Id="rId5" Target="../media/image57.svg" Type="http://schemas.openxmlformats.org/officeDocument/2006/relationships/image"/><Relationship Id="rId6" Target="../media/image7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1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4658" y="-56723"/>
            <a:ext cx="20763012" cy="10400446"/>
            <a:chOff x="0" y="0"/>
            <a:chExt cx="27684017" cy="13867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50421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8" y="0"/>
                  </a:lnTo>
                  <a:lnTo>
                    <a:pt x="13842008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842008" y="0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9" y="0"/>
                  </a:lnTo>
                  <a:lnTo>
                    <a:pt x="13842009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2333586" y="817739"/>
            <a:ext cx="14205027" cy="8401938"/>
            <a:chOff x="0" y="0"/>
            <a:chExt cx="5575106" cy="32975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-1270"/>
              <a:ext cx="5576376" cy="3296273"/>
            </a:xfrm>
            <a:custGeom>
              <a:avLst/>
              <a:gdLst/>
              <a:ahLst/>
              <a:cxnLst/>
              <a:rect r="r" b="b" t="t" l="l"/>
              <a:pathLst>
                <a:path h="3296273" w="5576376">
                  <a:moveTo>
                    <a:pt x="5564946" y="27940"/>
                  </a:moveTo>
                  <a:cubicBezTo>
                    <a:pt x="5556056" y="24130"/>
                    <a:pt x="5547166" y="21590"/>
                    <a:pt x="5538276" y="21590"/>
                  </a:cubicBezTo>
                  <a:cubicBezTo>
                    <a:pt x="5511606" y="20320"/>
                    <a:pt x="5429392" y="20320"/>
                    <a:pt x="5337320" y="17780"/>
                  </a:cubicBezTo>
                  <a:cubicBezTo>
                    <a:pt x="5126868" y="12700"/>
                    <a:pt x="4920802" y="6350"/>
                    <a:pt x="4710350" y="3810"/>
                  </a:cubicBezTo>
                  <a:cubicBezTo>
                    <a:pt x="4539358" y="1270"/>
                    <a:pt x="4372751" y="3810"/>
                    <a:pt x="4201759" y="2540"/>
                  </a:cubicBezTo>
                  <a:cubicBezTo>
                    <a:pt x="4127224" y="2540"/>
                    <a:pt x="4052689" y="0"/>
                    <a:pt x="3978154" y="2540"/>
                  </a:cubicBezTo>
                  <a:cubicBezTo>
                    <a:pt x="3798394" y="10160"/>
                    <a:pt x="3618633" y="11430"/>
                    <a:pt x="3434489" y="8890"/>
                  </a:cubicBezTo>
                  <a:cubicBezTo>
                    <a:pt x="3342416" y="7620"/>
                    <a:pt x="3250343" y="7620"/>
                    <a:pt x="3158271" y="7620"/>
                  </a:cubicBezTo>
                  <a:cubicBezTo>
                    <a:pt x="2991664" y="7620"/>
                    <a:pt x="2825056" y="7620"/>
                    <a:pt x="2658449" y="6350"/>
                  </a:cubicBezTo>
                  <a:cubicBezTo>
                    <a:pt x="2483073" y="5080"/>
                    <a:pt x="755618" y="2540"/>
                    <a:pt x="584626" y="1270"/>
                  </a:cubicBezTo>
                  <a:cubicBezTo>
                    <a:pt x="444325" y="0"/>
                    <a:pt x="308409" y="1270"/>
                    <a:pt x="168108" y="1270"/>
                  </a:cubicBezTo>
                  <a:cubicBezTo>
                    <a:pt x="71651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70627"/>
                    <a:pt x="16510" y="315827"/>
                    <a:pt x="17780" y="458480"/>
                  </a:cubicBezTo>
                  <a:cubicBezTo>
                    <a:pt x="19050" y="603681"/>
                    <a:pt x="17780" y="748882"/>
                    <a:pt x="16510" y="896630"/>
                  </a:cubicBezTo>
                  <a:cubicBezTo>
                    <a:pt x="15240" y="1046925"/>
                    <a:pt x="2540" y="2623753"/>
                    <a:pt x="2540" y="2774048"/>
                  </a:cubicBezTo>
                  <a:cubicBezTo>
                    <a:pt x="2540" y="2921796"/>
                    <a:pt x="1270" y="3069544"/>
                    <a:pt x="0" y="3217292"/>
                  </a:cubicBezTo>
                  <a:cubicBezTo>
                    <a:pt x="0" y="3241663"/>
                    <a:pt x="3810" y="3251823"/>
                    <a:pt x="15240" y="3256903"/>
                  </a:cubicBezTo>
                  <a:cubicBezTo>
                    <a:pt x="22860" y="3260713"/>
                    <a:pt x="31750" y="3263253"/>
                    <a:pt x="40640" y="3264523"/>
                  </a:cubicBezTo>
                  <a:cubicBezTo>
                    <a:pt x="163723" y="3269603"/>
                    <a:pt x="330331" y="3273413"/>
                    <a:pt x="496938" y="3278493"/>
                  </a:cubicBezTo>
                  <a:cubicBezTo>
                    <a:pt x="589010" y="3281033"/>
                    <a:pt x="681083" y="3286113"/>
                    <a:pt x="773155" y="3287383"/>
                  </a:cubicBezTo>
                  <a:cubicBezTo>
                    <a:pt x="926609" y="3289923"/>
                    <a:pt x="2636527" y="3291193"/>
                    <a:pt x="2789981" y="3292463"/>
                  </a:cubicBezTo>
                  <a:cubicBezTo>
                    <a:pt x="2811903" y="3292463"/>
                    <a:pt x="2833825" y="3292463"/>
                    <a:pt x="2855747" y="3292463"/>
                  </a:cubicBezTo>
                  <a:cubicBezTo>
                    <a:pt x="2960973" y="3292463"/>
                    <a:pt x="3070583" y="3291193"/>
                    <a:pt x="3175808" y="3291193"/>
                  </a:cubicBezTo>
                  <a:cubicBezTo>
                    <a:pt x="3298572" y="3291193"/>
                    <a:pt x="3416951" y="3292463"/>
                    <a:pt x="3539714" y="3292463"/>
                  </a:cubicBezTo>
                  <a:cubicBezTo>
                    <a:pt x="3719475" y="3292463"/>
                    <a:pt x="3903620" y="3292463"/>
                    <a:pt x="4083380" y="3292463"/>
                  </a:cubicBezTo>
                  <a:cubicBezTo>
                    <a:pt x="4249987" y="3292463"/>
                    <a:pt x="4416595" y="3293733"/>
                    <a:pt x="4583202" y="3295003"/>
                  </a:cubicBezTo>
                  <a:cubicBezTo>
                    <a:pt x="4657737" y="3295003"/>
                    <a:pt x="4736657" y="3296273"/>
                    <a:pt x="4811191" y="3296273"/>
                  </a:cubicBezTo>
                  <a:cubicBezTo>
                    <a:pt x="5052333" y="3295003"/>
                    <a:pt x="5289091" y="3288653"/>
                    <a:pt x="5515416" y="3288653"/>
                  </a:cubicBezTo>
                  <a:cubicBezTo>
                    <a:pt x="5519226" y="3288653"/>
                    <a:pt x="5524306" y="3286113"/>
                    <a:pt x="5528116" y="3283573"/>
                  </a:cubicBezTo>
                  <a:cubicBezTo>
                    <a:pt x="5533196" y="3279763"/>
                    <a:pt x="5535736" y="3273413"/>
                    <a:pt x="5538276" y="3270873"/>
                  </a:cubicBezTo>
                  <a:cubicBezTo>
                    <a:pt x="5539546" y="3199460"/>
                    <a:pt x="5540816" y="3092470"/>
                    <a:pt x="5542086" y="2985480"/>
                  </a:cubicBezTo>
                  <a:cubicBezTo>
                    <a:pt x="5543356" y="2819901"/>
                    <a:pt x="5553516" y="1230336"/>
                    <a:pt x="5554786" y="1064757"/>
                  </a:cubicBezTo>
                  <a:cubicBezTo>
                    <a:pt x="5554786" y="965409"/>
                    <a:pt x="5556056" y="866061"/>
                    <a:pt x="5557326" y="766713"/>
                  </a:cubicBezTo>
                  <a:cubicBezTo>
                    <a:pt x="5558596" y="659723"/>
                    <a:pt x="5559866" y="552733"/>
                    <a:pt x="5562406" y="445743"/>
                  </a:cubicBezTo>
                  <a:cubicBezTo>
                    <a:pt x="5563676" y="382059"/>
                    <a:pt x="5563676" y="315827"/>
                    <a:pt x="5568756" y="252143"/>
                  </a:cubicBezTo>
                  <a:cubicBezTo>
                    <a:pt x="5573836" y="175721"/>
                    <a:pt x="5576376" y="101847"/>
                    <a:pt x="5575106" y="44450"/>
                  </a:cubicBezTo>
                  <a:cubicBezTo>
                    <a:pt x="5575106" y="38100"/>
                    <a:pt x="5571296" y="30480"/>
                    <a:pt x="5564946" y="279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3865185" y="2055506"/>
            <a:ext cx="11141828" cy="5002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085"/>
              </a:lnSpc>
            </a:pPr>
            <a:r>
              <a:rPr lang="en-US" b="true" sz="11788" spc="-117">
                <a:solidFill>
                  <a:srgbClr val="A2272C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12 ĐÔI DÂY THẦN KINH SỌ NÃO</a:t>
            </a:r>
            <a:r>
              <a:rPr lang="en-US" b="true" sz="11788" spc="-117">
                <a:solidFill>
                  <a:srgbClr val="A2272C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​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110753" y="7693196"/>
            <a:ext cx="4071873" cy="574159"/>
            <a:chOff x="0" y="0"/>
            <a:chExt cx="2902989" cy="40933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-1270"/>
              <a:ext cx="2904259" cy="408069"/>
            </a:xfrm>
            <a:custGeom>
              <a:avLst/>
              <a:gdLst/>
              <a:ahLst/>
              <a:cxnLst/>
              <a:rect r="r" b="b" t="t" l="l"/>
              <a:pathLst>
                <a:path h="408069" w="2904259">
                  <a:moveTo>
                    <a:pt x="2892829" y="27940"/>
                  </a:moveTo>
                  <a:cubicBezTo>
                    <a:pt x="2883939" y="24130"/>
                    <a:pt x="2875049" y="21590"/>
                    <a:pt x="2866159" y="21590"/>
                  </a:cubicBezTo>
                  <a:cubicBezTo>
                    <a:pt x="2839489" y="20320"/>
                    <a:pt x="2796483" y="20320"/>
                    <a:pt x="2749545" y="17780"/>
                  </a:cubicBezTo>
                  <a:cubicBezTo>
                    <a:pt x="2642259" y="12700"/>
                    <a:pt x="2537207" y="6350"/>
                    <a:pt x="2429921" y="3810"/>
                  </a:cubicBezTo>
                  <a:cubicBezTo>
                    <a:pt x="2342751" y="1270"/>
                    <a:pt x="2257816" y="3810"/>
                    <a:pt x="2170645" y="2540"/>
                  </a:cubicBezTo>
                  <a:cubicBezTo>
                    <a:pt x="2132648" y="2540"/>
                    <a:pt x="2094651" y="0"/>
                    <a:pt x="2056654" y="2540"/>
                  </a:cubicBezTo>
                  <a:cubicBezTo>
                    <a:pt x="1965013" y="10160"/>
                    <a:pt x="1873373" y="11430"/>
                    <a:pt x="1779497" y="8890"/>
                  </a:cubicBezTo>
                  <a:cubicBezTo>
                    <a:pt x="1732559" y="7620"/>
                    <a:pt x="1685621" y="7620"/>
                    <a:pt x="1638684" y="7620"/>
                  </a:cubicBezTo>
                  <a:cubicBezTo>
                    <a:pt x="1553748" y="7620"/>
                    <a:pt x="1468813" y="7620"/>
                    <a:pt x="1383878" y="6350"/>
                  </a:cubicBezTo>
                  <a:cubicBezTo>
                    <a:pt x="1294473" y="5080"/>
                    <a:pt x="413830" y="2540"/>
                    <a:pt x="326660" y="1270"/>
                  </a:cubicBezTo>
                  <a:cubicBezTo>
                    <a:pt x="255136" y="0"/>
                    <a:pt x="185847" y="1270"/>
                    <a:pt x="114322" y="1270"/>
                  </a:cubicBezTo>
                  <a:cubicBezTo>
                    <a:pt x="65149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75118"/>
                    <a:pt x="16510" y="87904"/>
                    <a:pt x="17780" y="100465"/>
                  </a:cubicBezTo>
                  <a:cubicBezTo>
                    <a:pt x="19050" y="113250"/>
                    <a:pt x="17780" y="126035"/>
                    <a:pt x="16510" y="139045"/>
                  </a:cubicBezTo>
                  <a:cubicBezTo>
                    <a:pt x="15240" y="152279"/>
                    <a:pt x="2540" y="291122"/>
                    <a:pt x="2540" y="304356"/>
                  </a:cubicBezTo>
                  <a:cubicBezTo>
                    <a:pt x="2540" y="317366"/>
                    <a:pt x="1270" y="330375"/>
                    <a:pt x="0" y="343385"/>
                  </a:cubicBezTo>
                  <a:cubicBezTo>
                    <a:pt x="0" y="353459"/>
                    <a:pt x="3810" y="363619"/>
                    <a:pt x="15240" y="368699"/>
                  </a:cubicBezTo>
                  <a:cubicBezTo>
                    <a:pt x="22860" y="372509"/>
                    <a:pt x="31750" y="375049"/>
                    <a:pt x="40640" y="376319"/>
                  </a:cubicBezTo>
                  <a:cubicBezTo>
                    <a:pt x="112087" y="381399"/>
                    <a:pt x="197022" y="385209"/>
                    <a:pt x="281957" y="390289"/>
                  </a:cubicBezTo>
                  <a:cubicBezTo>
                    <a:pt x="328895" y="392829"/>
                    <a:pt x="375833" y="397909"/>
                    <a:pt x="422771" y="399179"/>
                  </a:cubicBezTo>
                  <a:cubicBezTo>
                    <a:pt x="501000" y="401719"/>
                    <a:pt x="1372703" y="402989"/>
                    <a:pt x="1450932" y="404259"/>
                  </a:cubicBezTo>
                  <a:cubicBezTo>
                    <a:pt x="1462108" y="404259"/>
                    <a:pt x="1473284" y="404259"/>
                    <a:pt x="1484459" y="404259"/>
                  </a:cubicBezTo>
                  <a:cubicBezTo>
                    <a:pt x="1538103" y="404259"/>
                    <a:pt x="1593981" y="402989"/>
                    <a:pt x="1647624" y="402989"/>
                  </a:cubicBezTo>
                  <a:cubicBezTo>
                    <a:pt x="1710208" y="402989"/>
                    <a:pt x="1770556" y="404259"/>
                    <a:pt x="1833140" y="404259"/>
                  </a:cubicBezTo>
                  <a:cubicBezTo>
                    <a:pt x="1924781" y="404259"/>
                    <a:pt x="2018656" y="404259"/>
                    <a:pt x="2110297" y="404259"/>
                  </a:cubicBezTo>
                  <a:cubicBezTo>
                    <a:pt x="2195232" y="404259"/>
                    <a:pt x="2280167" y="405529"/>
                    <a:pt x="2365102" y="406799"/>
                  </a:cubicBezTo>
                  <a:cubicBezTo>
                    <a:pt x="2403099" y="406799"/>
                    <a:pt x="2443332" y="408069"/>
                    <a:pt x="2481329" y="408069"/>
                  </a:cubicBezTo>
                  <a:cubicBezTo>
                    <a:pt x="2604261" y="406799"/>
                    <a:pt x="2724958" y="400449"/>
                    <a:pt x="2843299" y="400449"/>
                  </a:cubicBezTo>
                  <a:cubicBezTo>
                    <a:pt x="2847109" y="400449"/>
                    <a:pt x="2852189" y="397909"/>
                    <a:pt x="2855999" y="395369"/>
                  </a:cubicBezTo>
                  <a:cubicBezTo>
                    <a:pt x="2861079" y="391559"/>
                    <a:pt x="2863619" y="385209"/>
                    <a:pt x="2866159" y="382669"/>
                  </a:cubicBezTo>
                  <a:cubicBezTo>
                    <a:pt x="2867429" y="341815"/>
                    <a:pt x="2868699" y="332394"/>
                    <a:pt x="2869969" y="322973"/>
                  </a:cubicBezTo>
                  <a:cubicBezTo>
                    <a:pt x="2871239" y="308394"/>
                    <a:pt x="2881399" y="168429"/>
                    <a:pt x="2882669" y="153849"/>
                  </a:cubicBezTo>
                  <a:cubicBezTo>
                    <a:pt x="2882669" y="145101"/>
                    <a:pt x="2883939" y="136353"/>
                    <a:pt x="2885209" y="127605"/>
                  </a:cubicBezTo>
                  <a:cubicBezTo>
                    <a:pt x="2886479" y="118185"/>
                    <a:pt x="2887749" y="108764"/>
                    <a:pt x="2890289" y="99343"/>
                  </a:cubicBezTo>
                  <a:cubicBezTo>
                    <a:pt x="2891559" y="93736"/>
                    <a:pt x="2891559" y="87904"/>
                    <a:pt x="2896639" y="82296"/>
                  </a:cubicBezTo>
                  <a:cubicBezTo>
                    <a:pt x="2901719" y="75567"/>
                    <a:pt x="2904259" y="69062"/>
                    <a:pt x="2902989" y="44450"/>
                  </a:cubicBezTo>
                  <a:cubicBezTo>
                    <a:pt x="2902989" y="38100"/>
                    <a:pt x="2899179" y="30480"/>
                    <a:pt x="2892829" y="27940"/>
                  </a:cubicBezTo>
                  <a:close/>
                </a:path>
              </a:pathLst>
            </a:custGeom>
            <a:solidFill>
              <a:srgbClr val="3E4A9D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-426033">
            <a:off x="13908050" y="261978"/>
            <a:ext cx="4176815" cy="3022495"/>
          </a:xfrm>
          <a:custGeom>
            <a:avLst/>
            <a:gdLst/>
            <a:ahLst/>
            <a:cxnLst/>
            <a:rect r="r" b="b" t="t" l="l"/>
            <a:pathLst>
              <a:path h="3022495" w="4176815">
                <a:moveTo>
                  <a:pt x="0" y="0"/>
                </a:moveTo>
                <a:lnTo>
                  <a:pt x="4176815" y="0"/>
                </a:lnTo>
                <a:lnTo>
                  <a:pt x="4176815" y="3022495"/>
                </a:lnTo>
                <a:lnTo>
                  <a:pt x="0" y="30224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4199284">
            <a:off x="1355109" y="322994"/>
            <a:ext cx="2690997" cy="2896376"/>
          </a:xfrm>
          <a:custGeom>
            <a:avLst/>
            <a:gdLst/>
            <a:ahLst/>
            <a:cxnLst/>
            <a:rect r="r" b="b" t="t" l="l"/>
            <a:pathLst>
              <a:path h="2896376" w="2690997">
                <a:moveTo>
                  <a:pt x="0" y="0"/>
                </a:moveTo>
                <a:lnTo>
                  <a:pt x="2690997" y="0"/>
                </a:lnTo>
                <a:lnTo>
                  <a:pt x="2690997" y="2896376"/>
                </a:lnTo>
                <a:lnTo>
                  <a:pt x="0" y="28963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-5312293">
            <a:off x="14569284" y="4649300"/>
            <a:ext cx="2768371" cy="2541868"/>
          </a:xfrm>
          <a:custGeom>
            <a:avLst/>
            <a:gdLst/>
            <a:ahLst/>
            <a:cxnLst/>
            <a:rect r="r" b="b" t="t" l="l"/>
            <a:pathLst>
              <a:path h="2541868" w="2768371">
                <a:moveTo>
                  <a:pt x="2768371" y="0"/>
                </a:moveTo>
                <a:lnTo>
                  <a:pt x="0" y="0"/>
                </a:lnTo>
                <a:lnTo>
                  <a:pt x="0" y="2541868"/>
                </a:lnTo>
                <a:lnTo>
                  <a:pt x="2768371" y="2541868"/>
                </a:lnTo>
                <a:lnTo>
                  <a:pt x="2768371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4863923">
            <a:off x="1696160" y="3375374"/>
            <a:ext cx="1274852" cy="1469930"/>
          </a:xfrm>
          <a:custGeom>
            <a:avLst/>
            <a:gdLst/>
            <a:ahLst/>
            <a:cxnLst/>
            <a:rect r="r" b="b" t="t" l="l"/>
            <a:pathLst>
              <a:path h="1469930" w="1274852">
                <a:moveTo>
                  <a:pt x="0" y="0"/>
                </a:moveTo>
                <a:lnTo>
                  <a:pt x="1274852" y="0"/>
                </a:lnTo>
                <a:lnTo>
                  <a:pt x="1274852" y="1469930"/>
                </a:lnTo>
                <a:lnTo>
                  <a:pt x="0" y="1469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12551" t="-12414" r="0" b="-83742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3531975">
            <a:off x="13105106" y="8467066"/>
            <a:ext cx="1329591" cy="1247748"/>
          </a:xfrm>
          <a:custGeom>
            <a:avLst/>
            <a:gdLst/>
            <a:ahLst/>
            <a:cxnLst/>
            <a:rect r="r" b="b" t="t" l="l"/>
            <a:pathLst>
              <a:path h="1247748" w="1329591">
                <a:moveTo>
                  <a:pt x="0" y="0"/>
                </a:moveTo>
                <a:lnTo>
                  <a:pt x="1329591" y="0"/>
                </a:lnTo>
                <a:lnTo>
                  <a:pt x="1329591" y="1247748"/>
                </a:lnTo>
                <a:lnTo>
                  <a:pt x="0" y="12477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68858" t="-92879" r="-122806" b="-109134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44640">
            <a:off x="15028643" y="7673307"/>
            <a:ext cx="1121060" cy="1052053"/>
          </a:xfrm>
          <a:custGeom>
            <a:avLst/>
            <a:gdLst/>
            <a:ahLst/>
            <a:cxnLst/>
            <a:rect r="r" b="b" t="t" l="l"/>
            <a:pathLst>
              <a:path h="1052053" w="1121060">
                <a:moveTo>
                  <a:pt x="0" y="0"/>
                </a:moveTo>
                <a:lnTo>
                  <a:pt x="1121060" y="0"/>
                </a:lnTo>
                <a:lnTo>
                  <a:pt x="1121060" y="1052053"/>
                </a:lnTo>
                <a:lnTo>
                  <a:pt x="0" y="10520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68858" t="-92879" r="-122806" b="-109134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464502">
            <a:off x="1028700" y="5323314"/>
            <a:ext cx="4898979" cy="4739763"/>
          </a:xfrm>
          <a:custGeom>
            <a:avLst/>
            <a:gdLst/>
            <a:ahLst/>
            <a:cxnLst/>
            <a:rect r="r" b="b" t="t" l="l"/>
            <a:pathLst>
              <a:path h="4739763" w="4898979">
                <a:moveTo>
                  <a:pt x="0" y="0"/>
                </a:moveTo>
                <a:lnTo>
                  <a:pt x="4898979" y="0"/>
                </a:lnTo>
                <a:lnTo>
                  <a:pt x="4898979" y="4739763"/>
                </a:lnTo>
                <a:lnTo>
                  <a:pt x="0" y="473976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6679617" y="7765010"/>
            <a:ext cx="4934145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0"/>
              </a:lnSpc>
            </a:pPr>
            <a:r>
              <a:rPr lang="en-US" b="true" sz="3000">
                <a:solidFill>
                  <a:srgbClr val="FFFFFF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Nhóm 10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E4A9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37506" y="-155760"/>
            <a:ext cx="20763012" cy="10400446"/>
            <a:chOff x="0" y="0"/>
            <a:chExt cx="27684017" cy="13867262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0" y="50421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13816841"/>
                  </a:moveTo>
                  <a:lnTo>
                    <a:pt x="13842008" y="13816841"/>
                  </a:lnTo>
                  <a:lnTo>
                    <a:pt x="13842008" y="0"/>
                  </a:lnTo>
                  <a:lnTo>
                    <a:pt x="0" y="0"/>
                  </a:lnTo>
                  <a:lnTo>
                    <a:pt x="0" y="13816841"/>
                  </a:lnTo>
                  <a:close/>
                </a:path>
              </a:pathLst>
            </a:custGeom>
            <a:blipFill>
              <a:blip r:embed="rId2">
                <a:alphaModFix amt="8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true" rot="0">
              <a:off x="13842008" y="0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13816841"/>
                  </a:moveTo>
                  <a:lnTo>
                    <a:pt x="13842009" y="13816841"/>
                  </a:lnTo>
                  <a:lnTo>
                    <a:pt x="13842009" y="0"/>
                  </a:lnTo>
                  <a:lnTo>
                    <a:pt x="0" y="0"/>
                  </a:lnTo>
                  <a:lnTo>
                    <a:pt x="0" y="13816841"/>
                  </a:lnTo>
                  <a:close/>
                </a:path>
              </a:pathLst>
            </a:custGeom>
            <a:blipFill>
              <a:blip r:embed="rId2">
                <a:alphaModFix amt="8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33751" y="2783043"/>
            <a:ext cx="16230600" cy="6542140"/>
            <a:chOff x="0" y="0"/>
            <a:chExt cx="6851469" cy="27616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-1270"/>
              <a:ext cx="6852739" cy="2760382"/>
            </a:xfrm>
            <a:custGeom>
              <a:avLst/>
              <a:gdLst/>
              <a:ahLst/>
              <a:cxnLst/>
              <a:rect r="r" b="b" t="t" l="l"/>
              <a:pathLst>
                <a:path h="2760382" w="6852739">
                  <a:moveTo>
                    <a:pt x="6841309" y="27940"/>
                  </a:moveTo>
                  <a:cubicBezTo>
                    <a:pt x="6832419" y="24130"/>
                    <a:pt x="6823529" y="21590"/>
                    <a:pt x="6814639" y="21590"/>
                  </a:cubicBezTo>
                  <a:cubicBezTo>
                    <a:pt x="6787969" y="20320"/>
                    <a:pt x="6687027" y="20320"/>
                    <a:pt x="6573396" y="17780"/>
                  </a:cubicBezTo>
                  <a:cubicBezTo>
                    <a:pt x="6313667" y="12700"/>
                    <a:pt x="6059349" y="6350"/>
                    <a:pt x="5799620" y="3810"/>
                  </a:cubicBezTo>
                  <a:cubicBezTo>
                    <a:pt x="5588590" y="1270"/>
                    <a:pt x="5382971" y="3810"/>
                    <a:pt x="5171941" y="2540"/>
                  </a:cubicBezTo>
                  <a:cubicBezTo>
                    <a:pt x="5079953" y="2540"/>
                    <a:pt x="4987966" y="0"/>
                    <a:pt x="4895979" y="2540"/>
                  </a:cubicBezTo>
                  <a:cubicBezTo>
                    <a:pt x="4674127" y="10160"/>
                    <a:pt x="4452275" y="11430"/>
                    <a:pt x="4225012" y="8890"/>
                  </a:cubicBezTo>
                  <a:cubicBezTo>
                    <a:pt x="4111380" y="7620"/>
                    <a:pt x="3997749" y="7620"/>
                    <a:pt x="3884117" y="7620"/>
                  </a:cubicBezTo>
                  <a:cubicBezTo>
                    <a:pt x="3678498" y="7620"/>
                    <a:pt x="3472879" y="7620"/>
                    <a:pt x="3267261" y="6350"/>
                  </a:cubicBezTo>
                  <a:cubicBezTo>
                    <a:pt x="3050820" y="5080"/>
                    <a:pt x="918876" y="2540"/>
                    <a:pt x="707846" y="1270"/>
                  </a:cubicBezTo>
                  <a:cubicBezTo>
                    <a:pt x="534693" y="0"/>
                    <a:pt x="366952" y="1270"/>
                    <a:pt x="193799" y="1270"/>
                  </a:cubicBezTo>
                  <a:cubicBezTo>
                    <a:pt x="74756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52906"/>
                    <a:pt x="16510" y="273537"/>
                    <a:pt x="17780" y="392052"/>
                  </a:cubicBezTo>
                  <a:cubicBezTo>
                    <a:pt x="19050" y="512684"/>
                    <a:pt x="17780" y="633316"/>
                    <a:pt x="16510" y="756064"/>
                  </a:cubicBezTo>
                  <a:cubicBezTo>
                    <a:pt x="15240" y="880928"/>
                    <a:pt x="2540" y="2190945"/>
                    <a:pt x="2540" y="2315810"/>
                  </a:cubicBezTo>
                  <a:cubicBezTo>
                    <a:pt x="2540" y="2438557"/>
                    <a:pt x="1270" y="2561305"/>
                    <a:pt x="0" y="2684053"/>
                  </a:cubicBezTo>
                  <a:cubicBezTo>
                    <a:pt x="0" y="2705772"/>
                    <a:pt x="3810" y="2715932"/>
                    <a:pt x="15240" y="2721012"/>
                  </a:cubicBezTo>
                  <a:cubicBezTo>
                    <a:pt x="22860" y="2724822"/>
                    <a:pt x="31750" y="2727362"/>
                    <a:pt x="40640" y="2728632"/>
                  </a:cubicBezTo>
                  <a:cubicBezTo>
                    <a:pt x="188388" y="2733712"/>
                    <a:pt x="394007" y="2737522"/>
                    <a:pt x="599625" y="2742602"/>
                  </a:cubicBezTo>
                  <a:cubicBezTo>
                    <a:pt x="713257" y="2745142"/>
                    <a:pt x="826888" y="2750222"/>
                    <a:pt x="940520" y="2751492"/>
                  </a:cubicBezTo>
                  <a:cubicBezTo>
                    <a:pt x="1129906" y="2754032"/>
                    <a:pt x="3240205" y="2755302"/>
                    <a:pt x="3429591" y="2756572"/>
                  </a:cubicBezTo>
                  <a:cubicBezTo>
                    <a:pt x="3456646" y="2756572"/>
                    <a:pt x="3483701" y="2756572"/>
                    <a:pt x="3510756" y="2756572"/>
                  </a:cubicBezTo>
                  <a:cubicBezTo>
                    <a:pt x="3640621" y="2756572"/>
                    <a:pt x="3775897" y="2755302"/>
                    <a:pt x="3905761" y="2755302"/>
                  </a:cubicBezTo>
                  <a:cubicBezTo>
                    <a:pt x="4057270" y="2755302"/>
                    <a:pt x="4203367" y="2756572"/>
                    <a:pt x="4354876" y="2756572"/>
                  </a:cubicBezTo>
                  <a:cubicBezTo>
                    <a:pt x="4576728" y="2756572"/>
                    <a:pt x="4803991" y="2756572"/>
                    <a:pt x="5025843" y="2756572"/>
                  </a:cubicBezTo>
                  <a:cubicBezTo>
                    <a:pt x="5231462" y="2756572"/>
                    <a:pt x="5437081" y="2757842"/>
                    <a:pt x="5642700" y="2759112"/>
                  </a:cubicBezTo>
                  <a:cubicBezTo>
                    <a:pt x="5734687" y="2759112"/>
                    <a:pt x="5832086" y="2760382"/>
                    <a:pt x="5924073" y="2760382"/>
                  </a:cubicBezTo>
                  <a:cubicBezTo>
                    <a:pt x="6221680" y="2759112"/>
                    <a:pt x="6513874" y="2752762"/>
                    <a:pt x="6791779" y="2752762"/>
                  </a:cubicBezTo>
                  <a:cubicBezTo>
                    <a:pt x="6795589" y="2752762"/>
                    <a:pt x="6800669" y="2750222"/>
                    <a:pt x="6804479" y="2747682"/>
                  </a:cubicBezTo>
                  <a:cubicBezTo>
                    <a:pt x="6809559" y="2743872"/>
                    <a:pt x="6812099" y="2737522"/>
                    <a:pt x="6814639" y="2734982"/>
                  </a:cubicBezTo>
                  <a:cubicBezTo>
                    <a:pt x="6815909" y="2669239"/>
                    <a:pt x="6817179" y="2580352"/>
                    <a:pt x="6818449" y="2491466"/>
                  </a:cubicBezTo>
                  <a:cubicBezTo>
                    <a:pt x="6819719" y="2353904"/>
                    <a:pt x="6829879" y="1033305"/>
                    <a:pt x="6831149" y="895742"/>
                  </a:cubicBezTo>
                  <a:cubicBezTo>
                    <a:pt x="6831149" y="813205"/>
                    <a:pt x="6832419" y="730667"/>
                    <a:pt x="6833689" y="648130"/>
                  </a:cubicBezTo>
                  <a:cubicBezTo>
                    <a:pt x="6834959" y="559244"/>
                    <a:pt x="6836229" y="470357"/>
                    <a:pt x="6838769" y="381471"/>
                  </a:cubicBezTo>
                  <a:cubicBezTo>
                    <a:pt x="6840039" y="328562"/>
                    <a:pt x="6840039" y="273537"/>
                    <a:pt x="6845119" y="220629"/>
                  </a:cubicBezTo>
                  <a:cubicBezTo>
                    <a:pt x="6850199" y="157138"/>
                    <a:pt x="6852739" y="95764"/>
                    <a:pt x="6851469" y="44450"/>
                  </a:cubicBezTo>
                  <a:cubicBezTo>
                    <a:pt x="6851469" y="38100"/>
                    <a:pt x="6847659" y="30480"/>
                    <a:pt x="6841309" y="279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2224256" y="3873865"/>
            <a:ext cx="6724795" cy="4702782"/>
            <a:chOff x="0" y="0"/>
            <a:chExt cx="3821347" cy="267234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-1270"/>
              <a:ext cx="3822617" cy="2671074"/>
            </a:xfrm>
            <a:custGeom>
              <a:avLst/>
              <a:gdLst/>
              <a:ahLst/>
              <a:cxnLst/>
              <a:rect r="r" b="b" t="t" l="l"/>
              <a:pathLst>
                <a:path h="2671074" w="3822617">
                  <a:moveTo>
                    <a:pt x="3811187" y="27940"/>
                  </a:moveTo>
                  <a:cubicBezTo>
                    <a:pt x="3802297" y="24130"/>
                    <a:pt x="3793407" y="21590"/>
                    <a:pt x="3784517" y="21590"/>
                  </a:cubicBezTo>
                  <a:cubicBezTo>
                    <a:pt x="3757847" y="20320"/>
                    <a:pt x="3701366" y="20320"/>
                    <a:pt x="3638916" y="17780"/>
                  </a:cubicBezTo>
                  <a:cubicBezTo>
                    <a:pt x="3496174" y="12700"/>
                    <a:pt x="3356405" y="6350"/>
                    <a:pt x="3213663" y="3810"/>
                  </a:cubicBezTo>
                  <a:cubicBezTo>
                    <a:pt x="3097685" y="1270"/>
                    <a:pt x="2984681" y="3810"/>
                    <a:pt x="2868702" y="2540"/>
                  </a:cubicBezTo>
                  <a:cubicBezTo>
                    <a:pt x="2818148" y="2540"/>
                    <a:pt x="2767593" y="0"/>
                    <a:pt x="2717038" y="2540"/>
                  </a:cubicBezTo>
                  <a:cubicBezTo>
                    <a:pt x="2595113" y="10160"/>
                    <a:pt x="2473187" y="11430"/>
                    <a:pt x="2348287" y="8890"/>
                  </a:cubicBezTo>
                  <a:cubicBezTo>
                    <a:pt x="2285838" y="7620"/>
                    <a:pt x="2223388" y="7620"/>
                    <a:pt x="2160938" y="7620"/>
                  </a:cubicBezTo>
                  <a:cubicBezTo>
                    <a:pt x="2047934" y="7620"/>
                    <a:pt x="1934930" y="7620"/>
                    <a:pt x="1821925" y="6350"/>
                  </a:cubicBezTo>
                  <a:cubicBezTo>
                    <a:pt x="1702973" y="5080"/>
                    <a:pt x="531296" y="2540"/>
                    <a:pt x="415318" y="1270"/>
                  </a:cubicBezTo>
                  <a:cubicBezTo>
                    <a:pt x="320157" y="0"/>
                    <a:pt x="227969" y="1270"/>
                    <a:pt x="132807" y="1270"/>
                  </a:cubicBezTo>
                  <a:cubicBezTo>
                    <a:pt x="67384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49952"/>
                    <a:pt x="16510" y="266489"/>
                    <a:pt x="17780" y="380982"/>
                  </a:cubicBezTo>
                  <a:cubicBezTo>
                    <a:pt x="19050" y="497519"/>
                    <a:pt x="17780" y="614056"/>
                    <a:pt x="16510" y="732638"/>
                  </a:cubicBezTo>
                  <a:cubicBezTo>
                    <a:pt x="15240" y="853264"/>
                    <a:pt x="2540" y="2118816"/>
                    <a:pt x="2540" y="2239442"/>
                  </a:cubicBezTo>
                  <a:cubicBezTo>
                    <a:pt x="2540" y="2358024"/>
                    <a:pt x="1270" y="2476605"/>
                    <a:pt x="0" y="2595187"/>
                  </a:cubicBezTo>
                  <a:cubicBezTo>
                    <a:pt x="0" y="2616463"/>
                    <a:pt x="3810" y="2626624"/>
                    <a:pt x="15240" y="2631704"/>
                  </a:cubicBezTo>
                  <a:cubicBezTo>
                    <a:pt x="22860" y="2635513"/>
                    <a:pt x="31750" y="2638054"/>
                    <a:pt x="40640" y="2639324"/>
                  </a:cubicBezTo>
                  <a:cubicBezTo>
                    <a:pt x="129834" y="2644404"/>
                    <a:pt x="242838" y="2648213"/>
                    <a:pt x="355842" y="2653294"/>
                  </a:cubicBezTo>
                  <a:cubicBezTo>
                    <a:pt x="418292" y="2655834"/>
                    <a:pt x="480742" y="2660913"/>
                    <a:pt x="543192" y="2662184"/>
                  </a:cubicBezTo>
                  <a:cubicBezTo>
                    <a:pt x="647274" y="2664724"/>
                    <a:pt x="1807056" y="2665994"/>
                    <a:pt x="1911139" y="2667263"/>
                  </a:cubicBezTo>
                  <a:cubicBezTo>
                    <a:pt x="1926008" y="2667263"/>
                    <a:pt x="1940877" y="2667263"/>
                    <a:pt x="1955746" y="2667263"/>
                  </a:cubicBezTo>
                  <a:cubicBezTo>
                    <a:pt x="2027117" y="2667263"/>
                    <a:pt x="2101462" y="2665994"/>
                    <a:pt x="2172833" y="2665994"/>
                  </a:cubicBezTo>
                  <a:cubicBezTo>
                    <a:pt x="2256100" y="2665994"/>
                    <a:pt x="2336392" y="2667263"/>
                    <a:pt x="2419659" y="2667263"/>
                  </a:cubicBezTo>
                  <a:cubicBezTo>
                    <a:pt x="2541584" y="2667263"/>
                    <a:pt x="2666484" y="2667263"/>
                    <a:pt x="2788410" y="2667263"/>
                  </a:cubicBezTo>
                  <a:cubicBezTo>
                    <a:pt x="2901414" y="2667263"/>
                    <a:pt x="3014418" y="2668534"/>
                    <a:pt x="3127423" y="2669804"/>
                  </a:cubicBezTo>
                  <a:cubicBezTo>
                    <a:pt x="3177977" y="2669804"/>
                    <a:pt x="3231506" y="2671074"/>
                    <a:pt x="3282060" y="2671074"/>
                  </a:cubicBezTo>
                  <a:cubicBezTo>
                    <a:pt x="3445619" y="2669804"/>
                    <a:pt x="3606204" y="2663454"/>
                    <a:pt x="3761657" y="2663454"/>
                  </a:cubicBezTo>
                  <a:cubicBezTo>
                    <a:pt x="3765467" y="2663454"/>
                    <a:pt x="3770547" y="2660913"/>
                    <a:pt x="3774357" y="2658374"/>
                  </a:cubicBezTo>
                  <a:cubicBezTo>
                    <a:pt x="3779437" y="2654563"/>
                    <a:pt x="3781977" y="2648213"/>
                    <a:pt x="3784517" y="2645674"/>
                  </a:cubicBezTo>
                  <a:cubicBezTo>
                    <a:pt x="3785787" y="2580875"/>
                    <a:pt x="3787057" y="2495006"/>
                    <a:pt x="3788327" y="2409136"/>
                  </a:cubicBezTo>
                  <a:cubicBezTo>
                    <a:pt x="3789597" y="2276243"/>
                    <a:pt x="3799757" y="1000469"/>
                    <a:pt x="3801027" y="867575"/>
                  </a:cubicBezTo>
                  <a:cubicBezTo>
                    <a:pt x="3801027" y="787839"/>
                    <a:pt x="3802297" y="708104"/>
                    <a:pt x="3803567" y="628368"/>
                  </a:cubicBezTo>
                  <a:cubicBezTo>
                    <a:pt x="3804837" y="542498"/>
                    <a:pt x="3806107" y="456629"/>
                    <a:pt x="3808647" y="370759"/>
                  </a:cubicBezTo>
                  <a:cubicBezTo>
                    <a:pt x="3809917" y="319647"/>
                    <a:pt x="3809917" y="266489"/>
                    <a:pt x="3814997" y="215377"/>
                  </a:cubicBezTo>
                  <a:cubicBezTo>
                    <a:pt x="3820077" y="154041"/>
                    <a:pt x="3822617" y="94750"/>
                    <a:pt x="3821347" y="44450"/>
                  </a:cubicBezTo>
                  <a:cubicBezTo>
                    <a:pt x="3821347" y="38100"/>
                    <a:pt x="3817537" y="30480"/>
                    <a:pt x="3811187" y="27940"/>
                  </a:cubicBez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778221" y="3873865"/>
            <a:ext cx="6643667" cy="4702782"/>
            <a:chOff x="0" y="0"/>
            <a:chExt cx="3775246" cy="267234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-1270"/>
              <a:ext cx="3776516" cy="2671074"/>
            </a:xfrm>
            <a:custGeom>
              <a:avLst/>
              <a:gdLst/>
              <a:ahLst/>
              <a:cxnLst/>
              <a:rect r="r" b="b" t="t" l="l"/>
              <a:pathLst>
                <a:path h="2671074" w="3776516">
                  <a:moveTo>
                    <a:pt x="3765086" y="27940"/>
                  </a:moveTo>
                  <a:cubicBezTo>
                    <a:pt x="3756196" y="24130"/>
                    <a:pt x="3747306" y="21590"/>
                    <a:pt x="3738416" y="21590"/>
                  </a:cubicBezTo>
                  <a:cubicBezTo>
                    <a:pt x="3711746" y="20320"/>
                    <a:pt x="3655942" y="20320"/>
                    <a:pt x="3594271" y="17780"/>
                  </a:cubicBezTo>
                  <a:cubicBezTo>
                    <a:pt x="3453308" y="12700"/>
                    <a:pt x="3315283" y="6350"/>
                    <a:pt x="3174320" y="3810"/>
                  </a:cubicBezTo>
                  <a:cubicBezTo>
                    <a:pt x="3059788" y="1270"/>
                    <a:pt x="2948193" y="3810"/>
                    <a:pt x="2833661" y="2540"/>
                  </a:cubicBezTo>
                  <a:cubicBezTo>
                    <a:pt x="2783736" y="2540"/>
                    <a:pt x="2733812" y="0"/>
                    <a:pt x="2683888" y="2540"/>
                  </a:cubicBezTo>
                  <a:cubicBezTo>
                    <a:pt x="2563482" y="10160"/>
                    <a:pt x="2443077" y="11430"/>
                    <a:pt x="2319735" y="8890"/>
                  </a:cubicBezTo>
                  <a:cubicBezTo>
                    <a:pt x="2258064" y="7620"/>
                    <a:pt x="2196392" y="7620"/>
                    <a:pt x="2134721" y="7620"/>
                  </a:cubicBezTo>
                  <a:cubicBezTo>
                    <a:pt x="2023126" y="7620"/>
                    <a:pt x="1911531" y="7620"/>
                    <a:pt x="1799936" y="6350"/>
                  </a:cubicBezTo>
                  <a:cubicBezTo>
                    <a:pt x="1682467" y="5080"/>
                    <a:pt x="525400" y="2540"/>
                    <a:pt x="410868" y="1270"/>
                  </a:cubicBezTo>
                  <a:cubicBezTo>
                    <a:pt x="316893" y="0"/>
                    <a:pt x="225855" y="1270"/>
                    <a:pt x="131880" y="1270"/>
                  </a:cubicBezTo>
                  <a:cubicBezTo>
                    <a:pt x="67272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49952"/>
                    <a:pt x="16510" y="266489"/>
                    <a:pt x="17780" y="380982"/>
                  </a:cubicBezTo>
                  <a:cubicBezTo>
                    <a:pt x="19050" y="497519"/>
                    <a:pt x="17780" y="614056"/>
                    <a:pt x="16510" y="732638"/>
                  </a:cubicBezTo>
                  <a:cubicBezTo>
                    <a:pt x="15240" y="853264"/>
                    <a:pt x="2540" y="2118816"/>
                    <a:pt x="2540" y="2239442"/>
                  </a:cubicBezTo>
                  <a:cubicBezTo>
                    <a:pt x="2540" y="2358024"/>
                    <a:pt x="1270" y="2476605"/>
                    <a:pt x="0" y="2595187"/>
                  </a:cubicBezTo>
                  <a:cubicBezTo>
                    <a:pt x="0" y="2616463"/>
                    <a:pt x="3810" y="2626624"/>
                    <a:pt x="15240" y="2631704"/>
                  </a:cubicBezTo>
                  <a:cubicBezTo>
                    <a:pt x="22860" y="2635513"/>
                    <a:pt x="31750" y="2638054"/>
                    <a:pt x="40640" y="2639324"/>
                  </a:cubicBezTo>
                  <a:cubicBezTo>
                    <a:pt x="128943" y="2644404"/>
                    <a:pt x="240538" y="2648213"/>
                    <a:pt x="352133" y="2653294"/>
                  </a:cubicBezTo>
                  <a:cubicBezTo>
                    <a:pt x="413804" y="2655834"/>
                    <a:pt x="475475" y="2660913"/>
                    <a:pt x="537147" y="2662184"/>
                  </a:cubicBezTo>
                  <a:cubicBezTo>
                    <a:pt x="639932" y="2664724"/>
                    <a:pt x="1785252" y="2665994"/>
                    <a:pt x="1888037" y="2667263"/>
                  </a:cubicBezTo>
                  <a:cubicBezTo>
                    <a:pt x="1902721" y="2667263"/>
                    <a:pt x="1917404" y="2667263"/>
                    <a:pt x="1932088" y="2667263"/>
                  </a:cubicBezTo>
                  <a:cubicBezTo>
                    <a:pt x="2002569" y="2667263"/>
                    <a:pt x="2075987" y="2665994"/>
                    <a:pt x="2146468" y="2665994"/>
                  </a:cubicBezTo>
                  <a:cubicBezTo>
                    <a:pt x="2228696" y="2665994"/>
                    <a:pt x="2307988" y="2667263"/>
                    <a:pt x="2390216" y="2667263"/>
                  </a:cubicBezTo>
                  <a:cubicBezTo>
                    <a:pt x="2510621" y="2667263"/>
                    <a:pt x="2633964" y="2667263"/>
                    <a:pt x="2754369" y="2667263"/>
                  </a:cubicBezTo>
                  <a:cubicBezTo>
                    <a:pt x="2865964" y="2667263"/>
                    <a:pt x="2977560" y="2668534"/>
                    <a:pt x="3089155" y="2669804"/>
                  </a:cubicBezTo>
                  <a:cubicBezTo>
                    <a:pt x="3139079" y="2669804"/>
                    <a:pt x="3191940" y="2671074"/>
                    <a:pt x="3241864" y="2671074"/>
                  </a:cubicBezTo>
                  <a:cubicBezTo>
                    <a:pt x="3403384" y="2669804"/>
                    <a:pt x="3561967" y="2663454"/>
                    <a:pt x="3715556" y="2663454"/>
                  </a:cubicBezTo>
                  <a:cubicBezTo>
                    <a:pt x="3719366" y="2663454"/>
                    <a:pt x="3724446" y="2660913"/>
                    <a:pt x="3728256" y="2658374"/>
                  </a:cubicBezTo>
                  <a:cubicBezTo>
                    <a:pt x="3733336" y="2654563"/>
                    <a:pt x="3735876" y="2648213"/>
                    <a:pt x="3738416" y="2645674"/>
                  </a:cubicBezTo>
                  <a:cubicBezTo>
                    <a:pt x="3739686" y="2580875"/>
                    <a:pt x="3740956" y="2495006"/>
                    <a:pt x="3742226" y="2409136"/>
                  </a:cubicBezTo>
                  <a:cubicBezTo>
                    <a:pt x="3743496" y="2276243"/>
                    <a:pt x="3753656" y="1000469"/>
                    <a:pt x="3754926" y="867575"/>
                  </a:cubicBezTo>
                  <a:cubicBezTo>
                    <a:pt x="3754926" y="787839"/>
                    <a:pt x="3756196" y="708104"/>
                    <a:pt x="3757466" y="628368"/>
                  </a:cubicBezTo>
                  <a:cubicBezTo>
                    <a:pt x="3758736" y="542498"/>
                    <a:pt x="3760006" y="456629"/>
                    <a:pt x="3762546" y="370759"/>
                  </a:cubicBezTo>
                  <a:cubicBezTo>
                    <a:pt x="3763816" y="319647"/>
                    <a:pt x="3763816" y="266489"/>
                    <a:pt x="3768896" y="215377"/>
                  </a:cubicBezTo>
                  <a:cubicBezTo>
                    <a:pt x="3773976" y="154041"/>
                    <a:pt x="3776516" y="94750"/>
                    <a:pt x="3775246" y="44450"/>
                  </a:cubicBezTo>
                  <a:cubicBezTo>
                    <a:pt x="3775246" y="38100"/>
                    <a:pt x="3771436" y="30480"/>
                    <a:pt x="3765086" y="27940"/>
                  </a:cubicBezTo>
                  <a:close/>
                </a:path>
              </a:pathLst>
            </a:custGeom>
            <a:solidFill>
              <a:srgbClr val="EDEDED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228688">
            <a:off x="4419538" y="3601043"/>
            <a:ext cx="2334231" cy="768174"/>
          </a:xfrm>
          <a:custGeom>
            <a:avLst/>
            <a:gdLst/>
            <a:ahLst/>
            <a:cxnLst/>
            <a:rect r="r" b="b" t="t" l="l"/>
            <a:pathLst>
              <a:path h="768174" w="2334231">
                <a:moveTo>
                  <a:pt x="0" y="0"/>
                </a:moveTo>
                <a:lnTo>
                  <a:pt x="2334231" y="0"/>
                </a:lnTo>
                <a:lnTo>
                  <a:pt x="2334231" y="768174"/>
                </a:lnTo>
                <a:lnTo>
                  <a:pt x="0" y="7681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257380" y="1095443"/>
            <a:ext cx="11141828" cy="1175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789"/>
              </a:lnSpc>
            </a:pPr>
            <a:r>
              <a:rPr lang="en-US" b="true" sz="8789" spc="-87">
                <a:solidFill>
                  <a:srgbClr val="FFFFFF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NỘI DUNG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939037" y="5558506"/>
            <a:ext cx="5520818" cy="201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9"/>
              </a:lnSpc>
            </a:pPr>
            <a:r>
              <a:rPr lang="en-US" b="true" sz="4499">
                <a:solidFill>
                  <a:srgbClr val="555555"/>
                </a:solidFill>
                <a:latin typeface="Noto Serif Display Semi-Bold"/>
                <a:ea typeface="Noto Serif Display Semi-Bold"/>
                <a:cs typeface="Noto Serif Display Semi-Bold"/>
                <a:sym typeface="Noto Serif Display Semi-Bold"/>
              </a:rPr>
              <a:t>Khái quát về các dây thần kinh sọ não.​</a:t>
            </a:r>
            <a:r>
              <a:rPr lang="en-US" b="true" sz="4499">
                <a:solidFill>
                  <a:srgbClr val="555555"/>
                </a:solidFill>
                <a:latin typeface="Noto Serif Display Semi-Bold"/>
                <a:ea typeface="Noto Serif Display Semi-Bold"/>
                <a:cs typeface="Noto Serif Display Semi-Bold"/>
                <a:sym typeface="Noto Serif Display Semi-Bold"/>
              </a:rPr>
              <a:t>​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796066" y="5558506"/>
            <a:ext cx="4332465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9"/>
              </a:lnSpc>
            </a:pPr>
            <a:r>
              <a:rPr lang="en-US" b="true" sz="4499">
                <a:solidFill>
                  <a:srgbClr val="555555"/>
                </a:solidFill>
                <a:latin typeface="Noto Serif Display Semi-Bold"/>
                <a:ea typeface="Noto Serif Display Semi-Bold"/>
                <a:cs typeface="Noto Serif Display Semi-Bold"/>
                <a:sym typeface="Noto Serif Display Semi-Bold"/>
              </a:rPr>
              <a:t>12 đôi dây thần kinh sọ não.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494685">
            <a:off x="11751756" y="3601043"/>
            <a:ext cx="2334231" cy="768174"/>
          </a:xfrm>
          <a:custGeom>
            <a:avLst/>
            <a:gdLst/>
            <a:ahLst/>
            <a:cxnLst/>
            <a:rect r="r" b="b" t="t" l="l"/>
            <a:pathLst>
              <a:path h="768174" w="2334231">
                <a:moveTo>
                  <a:pt x="0" y="0"/>
                </a:moveTo>
                <a:lnTo>
                  <a:pt x="2334231" y="0"/>
                </a:lnTo>
                <a:lnTo>
                  <a:pt x="2334231" y="768174"/>
                </a:lnTo>
                <a:lnTo>
                  <a:pt x="0" y="7681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2946191">
            <a:off x="14450079" y="966203"/>
            <a:ext cx="1356904" cy="1767432"/>
          </a:xfrm>
          <a:custGeom>
            <a:avLst/>
            <a:gdLst/>
            <a:ahLst/>
            <a:cxnLst/>
            <a:rect r="r" b="b" t="t" l="l"/>
            <a:pathLst>
              <a:path h="1767432" w="1356904">
                <a:moveTo>
                  <a:pt x="0" y="0"/>
                </a:moveTo>
                <a:lnTo>
                  <a:pt x="1356904" y="0"/>
                </a:lnTo>
                <a:lnTo>
                  <a:pt x="1356904" y="1767433"/>
                </a:lnTo>
                <a:lnTo>
                  <a:pt x="0" y="17674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23589" t="0" r="0" b="-79771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3531975">
            <a:off x="15680175" y="2251585"/>
            <a:ext cx="1121060" cy="1052053"/>
          </a:xfrm>
          <a:custGeom>
            <a:avLst/>
            <a:gdLst/>
            <a:ahLst/>
            <a:cxnLst/>
            <a:rect r="r" b="b" t="t" l="l"/>
            <a:pathLst>
              <a:path h="1052053" w="1121060">
                <a:moveTo>
                  <a:pt x="0" y="0"/>
                </a:moveTo>
                <a:lnTo>
                  <a:pt x="1121060" y="0"/>
                </a:lnTo>
                <a:lnTo>
                  <a:pt x="1121060" y="1052054"/>
                </a:lnTo>
                <a:lnTo>
                  <a:pt x="0" y="10520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68858" t="-92879" r="-122806" b="-109134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2035113">
            <a:off x="15809915" y="939140"/>
            <a:ext cx="1492443" cy="847020"/>
          </a:xfrm>
          <a:custGeom>
            <a:avLst/>
            <a:gdLst/>
            <a:ahLst/>
            <a:cxnLst/>
            <a:rect r="r" b="b" t="t" l="l"/>
            <a:pathLst>
              <a:path h="847020" w="1492443">
                <a:moveTo>
                  <a:pt x="0" y="0"/>
                </a:moveTo>
                <a:lnTo>
                  <a:pt x="1492444" y="0"/>
                </a:lnTo>
                <a:lnTo>
                  <a:pt x="1492444" y="847021"/>
                </a:lnTo>
                <a:lnTo>
                  <a:pt x="0" y="8470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65893" t="0" r="-128308" b="-27512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486487" y="854292"/>
            <a:ext cx="1541785" cy="1416865"/>
          </a:xfrm>
          <a:custGeom>
            <a:avLst/>
            <a:gdLst/>
            <a:ahLst/>
            <a:cxnLst/>
            <a:rect r="r" b="b" t="t" l="l"/>
            <a:pathLst>
              <a:path h="1416865" w="1541785">
                <a:moveTo>
                  <a:pt x="0" y="0"/>
                </a:moveTo>
                <a:lnTo>
                  <a:pt x="1541785" y="0"/>
                </a:lnTo>
                <a:lnTo>
                  <a:pt x="1541785" y="1416865"/>
                </a:lnTo>
                <a:lnTo>
                  <a:pt x="0" y="14168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270" t="-52897" r="-134299" b="-32599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311074" y="1967715"/>
            <a:ext cx="1274852" cy="1469930"/>
          </a:xfrm>
          <a:custGeom>
            <a:avLst/>
            <a:gdLst/>
            <a:ahLst/>
            <a:cxnLst/>
            <a:rect r="r" b="b" t="t" l="l"/>
            <a:pathLst>
              <a:path h="1469930" w="1274852">
                <a:moveTo>
                  <a:pt x="0" y="0"/>
                </a:moveTo>
                <a:lnTo>
                  <a:pt x="1274853" y="0"/>
                </a:lnTo>
                <a:lnTo>
                  <a:pt x="1274853" y="1469931"/>
                </a:lnTo>
                <a:lnTo>
                  <a:pt x="0" y="14699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12551" t="-12414" r="0" b="-83742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7602803" y="9399762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428233" y="3569205"/>
            <a:ext cx="4316840" cy="793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99"/>
              </a:lnSpc>
              <a:spcBef>
                <a:spcPct val="0"/>
              </a:spcBef>
            </a:pPr>
            <a:r>
              <a:rPr lang="en-US" b="true" sz="4999">
                <a:solidFill>
                  <a:srgbClr val="403229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708740" y="3569205"/>
            <a:ext cx="2420263" cy="793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99"/>
              </a:lnSpc>
              <a:spcBef>
                <a:spcPct val="0"/>
              </a:spcBef>
            </a:pPr>
            <a:r>
              <a:rPr lang="en-US" b="true" sz="4999">
                <a:solidFill>
                  <a:srgbClr val="000000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2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1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4658" y="-56723"/>
            <a:ext cx="20763012" cy="10400446"/>
            <a:chOff x="0" y="0"/>
            <a:chExt cx="27684017" cy="13867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50421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8" y="0"/>
                  </a:lnTo>
                  <a:lnTo>
                    <a:pt x="13842008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842008" y="0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9" y="0"/>
                  </a:lnTo>
                  <a:lnTo>
                    <a:pt x="13842009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2591988" y="1490188"/>
            <a:ext cx="13104024" cy="8292589"/>
          </a:xfrm>
          <a:custGeom>
            <a:avLst/>
            <a:gdLst/>
            <a:ahLst/>
            <a:cxnLst/>
            <a:rect r="r" b="b" t="t" l="l"/>
            <a:pathLst>
              <a:path h="8292589" w="13104024">
                <a:moveTo>
                  <a:pt x="0" y="0"/>
                </a:moveTo>
                <a:lnTo>
                  <a:pt x="13104024" y="0"/>
                </a:lnTo>
                <a:lnTo>
                  <a:pt x="13104024" y="8292589"/>
                </a:lnTo>
                <a:lnTo>
                  <a:pt x="0" y="82925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64" t="0" r="-264" b="-289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6195" y="345069"/>
            <a:ext cx="18475089" cy="867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0"/>
              </a:lnSpc>
            </a:pPr>
            <a:r>
              <a:rPr lang="en-US" b="true" sz="7000" spc="-70">
                <a:solidFill>
                  <a:srgbClr val="A2272C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1. Khái quát về các dây thần kinh sọ não.​</a:t>
            </a:r>
            <a:r>
              <a:rPr lang="en-US" b="true" sz="7000" spc="-70">
                <a:solidFill>
                  <a:srgbClr val="A2272C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​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602803" y="9399762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555555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91988" y="9682336"/>
            <a:ext cx="1310402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Vị trí các dây thần kinh sọ não.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05413" y="2959667"/>
            <a:ext cx="2355428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tk Khứu giác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15036" y="2959667"/>
            <a:ext cx="1632466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tk Thị giác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-2168886" y="4065665"/>
            <a:ext cx="13104024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tk Vận nhãn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461881" y="5375497"/>
            <a:ext cx="1842492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tk Ròng rọc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211664" y="4065665"/>
            <a:ext cx="1589008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tk Sinh ba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992107" y="6573742"/>
            <a:ext cx="3569892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tk Vận nhãn ngoài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719657" y="5375497"/>
            <a:ext cx="1023223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tk Mặt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992107" y="7751667"/>
            <a:ext cx="3883146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tk Tiền đình - Ốc tai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764836" y="6555327"/>
            <a:ext cx="1909643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tk Thiệt hầu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469990" y="7735157"/>
            <a:ext cx="3072356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tk Lang thang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-2168886" y="8838151"/>
            <a:ext cx="13104024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tk Hạ thiệt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051347" y="8838151"/>
            <a:ext cx="1909643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tk Phụ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1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37506" y="0"/>
            <a:ext cx="20763012" cy="10400446"/>
            <a:chOff x="0" y="0"/>
            <a:chExt cx="27684017" cy="13867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50421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8" y="0"/>
                  </a:lnTo>
                  <a:lnTo>
                    <a:pt x="13842008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842008" y="0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9" y="0"/>
                  </a:lnTo>
                  <a:lnTo>
                    <a:pt x="13842009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742599" y="1399817"/>
            <a:ext cx="14802802" cy="9877506"/>
          </a:xfrm>
          <a:custGeom>
            <a:avLst/>
            <a:gdLst/>
            <a:ahLst/>
            <a:cxnLst/>
            <a:rect r="r" b="b" t="t" l="l"/>
            <a:pathLst>
              <a:path h="9877506" w="14802802">
                <a:moveTo>
                  <a:pt x="0" y="0"/>
                </a:moveTo>
                <a:lnTo>
                  <a:pt x="14802802" y="0"/>
                </a:lnTo>
                <a:lnTo>
                  <a:pt x="14802802" y="9877507"/>
                </a:lnTo>
                <a:lnTo>
                  <a:pt x="0" y="98775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443344">
            <a:off x="477187" y="7295665"/>
            <a:ext cx="4153428" cy="3156605"/>
          </a:xfrm>
          <a:custGeom>
            <a:avLst/>
            <a:gdLst/>
            <a:ahLst/>
            <a:cxnLst/>
            <a:rect r="r" b="b" t="t" l="l"/>
            <a:pathLst>
              <a:path h="3156605" w="4153428">
                <a:moveTo>
                  <a:pt x="0" y="0"/>
                </a:moveTo>
                <a:lnTo>
                  <a:pt x="4153428" y="0"/>
                </a:lnTo>
                <a:lnTo>
                  <a:pt x="4153428" y="3156605"/>
                </a:lnTo>
                <a:lnTo>
                  <a:pt x="0" y="3156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26195" y="345069"/>
            <a:ext cx="18475089" cy="867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0"/>
              </a:lnSpc>
            </a:pPr>
            <a:r>
              <a:rPr lang="en-US" b="true" sz="7000" spc="-70">
                <a:solidFill>
                  <a:srgbClr val="A2272C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1. Khái quát về các dây thần kinh sọ não.​</a:t>
            </a:r>
            <a:r>
              <a:rPr lang="en-US" b="true" sz="7000" spc="-70">
                <a:solidFill>
                  <a:srgbClr val="A2272C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​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602803" y="9399762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555555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4</a:t>
            </a:r>
          </a:p>
        </p:txBody>
      </p:sp>
      <p:sp>
        <p:nvSpPr>
          <p:cNvPr name="TextBox 9" id="9"/>
          <p:cNvSpPr txBox="true"/>
          <p:nvPr/>
        </p:nvSpPr>
        <p:spPr>
          <a:xfrm rot="-1048726">
            <a:off x="2352348" y="1899504"/>
            <a:ext cx="3155120" cy="844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4999" b="true">
                <a:solidFill>
                  <a:srgbClr val="A2272C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Thông tin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942781" y="5718948"/>
            <a:ext cx="6636663" cy="75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499">
                <a:solidFill>
                  <a:srgbClr val="000000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Gồm: </a:t>
            </a:r>
            <a:r>
              <a:rPr lang="en-US" sz="4499" b="true">
                <a:solidFill>
                  <a:srgbClr val="000000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12 đôi dây</a:t>
            </a:r>
            <a:r>
              <a:rPr lang="en-US" sz="4499">
                <a:solidFill>
                  <a:srgbClr val="000000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 (I – XII).​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528774" y="3236482"/>
            <a:ext cx="10164705" cy="1543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499">
                <a:solidFill>
                  <a:srgbClr val="000000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Loại: Thuộc </a:t>
            </a:r>
            <a:r>
              <a:rPr lang="en-US" sz="4499" b="true">
                <a:solidFill>
                  <a:srgbClr val="000000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HTKNB</a:t>
            </a:r>
            <a:r>
              <a:rPr lang="en-US" sz="4499">
                <a:solidFill>
                  <a:srgbClr val="000000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 (riêng dây TK số II là một phần của HTKTW).​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64922" y="7575828"/>
            <a:ext cx="9894942" cy="1543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499">
                <a:solidFill>
                  <a:srgbClr val="000000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Cấu tạo: </a:t>
            </a:r>
            <a:r>
              <a:rPr lang="en-US" sz="4499" b="true">
                <a:solidFill>
                  <a:srgbClr val="000000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Đa dạng</a:t>
            </a:r>
            <a:r>
              <a:rPr lang="en-US" sz="4499">
                <a:solidFill>
                  <a:srgbClr val="000000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 &amp; </a:t>
            </a:r>
            <a:r>
              <a:rPr lang="en-US" sz="4499" b="true">
                <a:solidFill>
                  <a:srgbClr val="000000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chuyên môn hóa</a:t>
            </a:r>
            <a:r>
              <a:rPr lang="en-US" sz="4499">
                <a:solidFill>
                  <a:srgbClr val="000000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 về chức năng.​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1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37506" y="0"/>
            <a:ext cx="20763012" cy="10400446"/>
            <a:chOff x="0" y="0"/>
            <a:chExt cx="27684017" cy="13867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50421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8" y="0"/>
                  </a:lnTo>
                  <a:lnTo>
                    <a:pt x="13842008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842008" y="0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9" y="0"/>
                  </a:lnTo>
                  <a:lnTo>
                    <a:pt x="13842009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4496096" y="3926941"/>
            <a:ext cx="8854205" cy="2546563"/>
          </a:xfrm>
          <a:custGeom>
            <a:avLst/>
            <a:gdLst/>
            <a:ahLst/>
            <a:cxnLst/>
            <a:rect r="r" b="b" t="t" l="l"/>
            <a:pathLst>
              <a:path h="2546563" w="8854205">
                <a:moveTo>
                  <a:pt x="0" y="0"/>
                </a:moveTo>
                <a:lnTo>
                  <a:pt x="8854205" y="0"/>
                </a:lnTo>
                <a:lnTo>
                  <a:pt x="8854205" y="2546564"/>
                </a:lnTo>
                <a:lnTo>
                  <a:pt x="0" y="25465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414686">
            <a:off x="5703871" y="1762177"/>
            <a:ext cx="6562232" cy="2958970"/>
          </a:xfrm>
          <a:custGeom>
            <a:avLst/>
            <a:gdLst/>
            <a:ahLst/>
            <a:cxnLst/>
            <a:rect r="r" b="b" t="t" l="l"/>
            <a:pathLst>
              <a:path h="2958970" w="6562232">
                <a:moveTo>
                  <a:pt x="0" y="0"/>
                </a:moveTo>
                <a:lnTo>
                  <a:pt x="6562232" y="0"/>
                </a:lnTo>
                <a:lnTo>
                  <a:pt x="6562232" y="2958970"/>
                </a:lnTo>
                <a:lnTo>
                  <a:pt x="0" y="29589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576822">
            <a:off x="2202613" y="5600760"/>
            <a:ext cx="3273409" cy="4840530"/>
          </a:xfrm>
          <a:custGeom>
            <a:avLst/>
            <a:gdLst/>
            <a:ahLst/>
            <a:cxnLst/>
            <a:rect r="r" b="b" t="t" l="l"/>
            <a:pathLst>
              <a:path h="4840530" w="3273409">
                <a:moveTo>
                  <a:pt x="0" y="0"/>
                </a:moveTo>
                <a:lnTo>
                  <a:pt x="3273408" y="0"/>
                </a:lnTo>
                <a:lnTo>
                  <a:pt x="3273408" y="4840531"/>
                </a:lnTo>
                <a:lnTo>
                  <a:pt x="0" y="48405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26195" y="345069"/>
            <a:ext cx="18475089" cy="867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0"/>
              </a:lnSpc>
            </a:pPr>
            <a:r>
              <a:rPr lang="en-US" b="true" sz="7000" spc="-70">
                <a:solidFill>
                  <a:srgbClr val="A2272C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1. Khái quát về các dây thần kinh sọ não.​</a:t>
            </a:r>
            <a:r>
              <a:rPr lang="en-US" b="true" sz="7000" spc="-70">
                <a:solidFill>
                  <a:srgbClr val="A2272C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​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602803" y="9399762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555555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19606" y="2196565"/>
            <a:ext cx="5773135" cy="1730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4999" b="true">
                <a:solidFill>
                  <a:srgbClr val="6B2D21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Phân loại theo chức năng chính</a:t>
            </a:r>
          </a:p>
        </p:txBody>
      </p:sp>
      <p:sp>
        <p:nvSpPr>
          <p:cNvPr name="TextBox 11" id="11"/>
          <p:cNvSpPr txBox="true"/>
          <p:nvPr/>
        </p:nvSpPr>
        <p:spPr>
          <a:xfrm rot="90846">
            <a:off x="1678660" y="7211413"/>
            <a:ext cx="4323329" cy="1543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499" b="true">
                <a:solidFill>
                  <a:srgbClr val="1800AD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Cảm giác:</a:t>
            </a:r>
            <a:r>
              <a:rPr lang="en-US" sz="4499">
                <a:solidFill>
                  <a:srgbClr val="1800AD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​</a:t>
            </a:r>
          </a:p>
          <a:p>
            <a:pPr algn="ctr">
              <a:lnSpc>
                <a:spcPts val="6299"/>
              </a:lnSpc>
            </a:pPr>
            <a:r>
              <a:rPr lang="en-US" sz="4499">
                <a:solidFill>
                  <a:srgbClr val="1800AD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Dây số I, II, VIII.​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5399999">
            <a:off x="7719315" y="5852335"/>
            <a:ext cx="3169076" cy="4686250"/>
          </a:xfrm>
          <a:custGeom>
            <a:avLst/>
            <a:gdLst/>
            <a:ahLst/>
            <a:cxnLst/>
            <a:rect r="r" b="b" t="t" l="l"/>
            <a:pathLst>
              <a:path h="4686250" w="3169076">
                <a:moveTo>
                  <a:pt x="0" y="0"/>
                </a:moveTo>
                <a:lnTo>
                  <a:pt x="3169076" y="0"/>
                </a:lnTo>
                <a:lnTo>
                  <a:pt x="3169076" y="4686250"/>
                </a:lnTo>
                <a:lnTo>
                  <a:pt x="0" y="46862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261213" y="6990547"/>
            <a:ext cx="4085280" cy="233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499" b="true">
                <a:solidFill>
                  <a:srgbClr val="1800AD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Vận động:</a:t>
            </a:r>
            <a:r>
              <a:rPr lang="en-US" sz="4499">
                <a:solidFill>
                  <a:srgbClr val="1800AD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​</a:t>
            </a:r>
          </a:p>
          <a:p>
            <a:pPr algn="ctr">
              <a:lnSpc>
                <a:spcPts val="6299"/>
              </a:lnSpc>
            </a:pPr>
            <a:r>
              <a:rPr lang="en-US" sz="4499">
                <a:solidFill>
                  <a:srgbClr val="1800AD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Dây số III, IV, VI, XI, XII</a:t>
            </a:r>
            <a:r>
              <a:rPr lang="en-US" sz="4499">
                <a:solidFill>
                  <a:srgbClr val="3E4A9D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5155486">
            <a:off x="13142118" y="5658574"/>
            <a:ext cx="3208433" cy="4744448"/>
          </a:xfrm>
          <a:custGeom>
            <a:avLst/>
            <a:gdLst/>
            <a:ahLst/>
            <a:cxnLst/>
            <a:rect r="r" b="b" t="t" l="l"/>
            <a:pathLst>
              <a:path h="4744448" w="3208433">
                <a:moveTo>
                  <a:pt x="0" y="0"/>
                </a:moveTo>
                <a:lnTo>
                  <a:pt x="3208433" y="0"/>
                </a:lnTo>
                <a:lnTo>
                  <a:pt x="3208433" y="4744449"/>
                </a:lnTo>
                <a:lnTo>
                  <a:pt x="0" y="474444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-209928">
            <a:off x="12948052" y="6804589"/>
            <a:ext cx="4006691" cy="233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499" b="true">
                <a:solidFill>
                  <a:srgbClr val="1800AD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Hỗn hợp:</a:t>
            </a:r>
            <a:r>
              <a:rPr lang="en-US" sz="4499">
                <a:solidFill>
                  <a:srgbClr val="1800AD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​</a:t>
            </a:r>
          </a:p>
          <a:p>
            <a:pPr algn="ctr">
              <a:lnSpc>
                <a:spcPts val="6299"/>
              </a:lnSpc>
            </a:pPr>
            <a:r>
              <a:rPr lang="en-US" sz="4499">
                <a:solidFill>
                  <a:srgbClr val="1800AD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Dây số V, VII, IX, X.​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1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4658" y="-56723"/>
            <a:ext cx="20763012" cy="10400446"/>
            <a:chOff x="0" y="0"/>
            <a:chExt cx="27684017" cy="13867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50421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8" y="0"/>
                  </a:lnTo>
                  <a:lnTo>
                    <a:pt x="13842008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842008" y="0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9" y="0"/>
                  </a:lnTo>
                  <a:lnTo>
                    <a:pt x="13842009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690162" y="1501608"/>
            <a:ext cx="6553844" cy="8785392"/>
          </a:xfrm>
          <a:custGeom>
            <a:avLst/>
            <a:gdLst/>
            <a:ahLst/>
            <a:cxnLst/>
            <a:rect r="r" b="b" t="t" l="l"/>
            <a:pathLst>
              <a:path h="8785392" w="6553844">
                <a:moveTo>
                  <a:pt x="0" y="0"/>
                </a:moveTo>
                <a:lnTo>
                  <a:pt x="6553843" y="0"/>
                </a:lnTo>
                <a:lnTo>
                  <a:pt x="6553843" y="8785392"/>
                </a:lnTo>
                <a:lnTo>
                  <a:pt x="0" y="87853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759" r="0" b="-1759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6195" y="345069"/>
            <a:ext cx="18475089" cy="867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0"/>
              </a:lnSpc>
            </a:pPr>
            <a:r>
              <a:rPr lang="en-US" b="true" sz="7000" spc="-70">
                <a:solidFill>
                  <a:srgbClr val="A2272C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1. Khái quát về các dây thần kinh sọ não.​</a:t>
            </a:r>
            <a:r>
              <a:rPr lang="en-US" b="true" sz="7000" spc="-70">
                <a:solidFill>
                  <a:srgbClr val="A2272C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​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052651" y="1501608"/>
            <a:ext cx="9424735" cy="8842115"/>
          </a:xfrm>
          <a:custGeom>
            <a:avLst/>
            <a:gdLst/>
            <a:ahLst/>
            <a:cxnLst/>
            <a:rect r="r" b="b" t="t" l="l"/>
            <a:pathLst>
              <a:path h="8842115" w="9424735">
                <a:moveTo>
                  <a:pt x="0" y="0"/>
                </a:moveTo>
                <a:lnTo>
                  <a:pt x="9424736" y="0"/>
                </a:lnTo>
                <a:lnTo>
                  <a:pt x="9424736" y="8842115"/>
                </a:lnTo>
                <a:lnTo>
                  <a:pt x="0" y="88421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7859825">
            <a:off x="6303060" y="913345"/>
            <a:ext cx="1844261" cy="5785915"/>
          </a:xfrm>
          <a:custGeom>
            <a:avLst/>
            <a:gdLst/>
            <a:ahLst/>
            <a:cxnLst/>
            <a:rect r="r" b="b" t="t" l="l"/>
            <a:pathLst>
              <a:path h="5785915" w="1844261">
                <a:moveTo>
                  <a:pt x="1844261" y="0"/>
                </a:moveTo>
                <a:lnTo>
                  <a:pt x="0" y="0"/>
                </a:lnTo>
                <a:lnTo>
                  <a:pt x="0" y="5785915"/>
                </a:lnTo>
                <a:lnTo>
                  <a:pt x="1844261" y="5785915"/>
                </a:lnTo>
                <a:lnTo>
                  <a:pt x="1844261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966848" y="3961790"/>
            <a:ext cx="7984237" cy="13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63596" indent="-431798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Là nơi </a:t>
            </a:r>
            <a:r>
              <a:rPr lang="en-US" b="true" sz="3999">
                <a:solidFill>
                  <a:srgbClr val="000000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xuất phát</a:t>
            </a:r>
            <a:r>
              <a:rPr lang="en-US" sz="3999">
                <a:solidFill>
                  <a:srgbClr val="000000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 của dây thần kinh sọ.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66848" y="5561783"/>
            <a:ext cx="7843952" cy="13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63596" indent="-431798" lvl="1">
              <a:lnSpc>
                <a:spcPts val="5599"/>
              </a:lnSpc>
              <a:buFont typeface="Arial"/>
              <a:buChar char="•"/>
            </a:pPr>
            <a:r>
              <a:rPr lang="en-US" b="true" sz="3999">
                <a:solidFill>
                  <a:srgbClr val="000000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Nguyên ủy thật</a:t>
            </a:r>
            <a:r>
              <a:rPr lang="en-US" sz="3999">
                <a:solidFill>
                  <a:srgbClr val="000000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: Là </a:t>
            </a:r>
            <a:r>
              <a:rPr lang="en-US" b="true" sz="3999">
                <a:solidFill>
                  <a:srgbClr val="000000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nơi bắt nguồn</a:t>
            </a:r>
            <a:r>
              <a:rPr lang="en-US" sz="3999">
                <a:solidFill>
                  <a:srgbClr val="000000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 của dây thần kinh sọ. </a:t>
            </a:r>
          </a:p>
        </p:txBody>
      </p:sp>
      <p:sp>
        <p:nvSpPr>
          <p:cNvPr name="Freeform 11" id="11"/>
          <p:cNvSpPr/>
          <p:nvPr/>
        </p:nvSpPr>
        <p:spPr>
          <a:xfrm flipH="true" flipV="false" rot="7860647">
            <a:off x="7637652" y="3076740"/>
            <a:ext cx="1029754" cy="3230600"/>
          </a:xfrm>
          <a:custGeom>
            <a:avLst/>
            <a:gdLst/>
            <a:ahLst/>
            <a:cxnLst/>
            <a:rect r="r" b="b" t="t" l="l"/>
            <a:pathLst>
              <a:path h="3230600" w="1029754">
                <a:moveTo>
                  <a:pt x="1029754" y="0"/>
                </a:moveTo>
                <a:lnTo>
                  <a:pt x="0" y="0"/>
                </a:lnTo>
                <a:lnTo>
                  <a:pt x="0" y="3230600"/>
                </a:lnTo>
                <a:lnTo>
                  <a:pt x="1029754" y="3230600"/>
                </a:lnTo>
                <a:lnTo>
                  <a:pt x="1029754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7602803" y="9399762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555555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66848" y="2366670"/>
            <a:ext cx="4443410" cy="880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6B2D21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Nguyên ủy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966848" y="7659861"/>
            <a:ext cx="7596342" cy="208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63596" indent="-431798" lvl="1">
              <a:lnSpc>
                <a:spcPts val="5599"/>
              </a:lnSpc>
              <a:buFont typeface="Arial"/>
              <a:buChar char="•"/>
            </a:pPr>
            <a:r>
              <a:rPr lang="en-US" b="true" sz="3999">
                <a:solidFill>
                  <a:srgbClr val="000000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Nguyên ủy hư</a:t>
            </a:r>
            <a:r>
              <a:rPr lang="en-US" sz="3999">
                <a:solidFill>
                  <a:srgbClr val="000000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: Là nơi các dây thần kinh </a:t>
            </a:r>
            <a:r>
              <a:rPr lang="en-US" b="true" sz="3999">
                <a:solidFill>
                  <a:srgbClr val="000000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đi xuyên qua</a:t>
            </a:r>
            <a:r>
              <a:rPr lang="en-US" sz="3999">
                <a:solidFill>
                  <a:srgbClr val="000000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 bề mặt ngoài của não.</a:t>
            </a:r>
          </a:p>
        </p:txBody>
      </p:sp>
      <p:sp>
        <p:nvSpPr>
          <p:cNvPr name="Freeform 15" id="15"/>
          <p:cNvSpPr/>
          <p:nvPr/>
        </p:nvSpPr>
        <p:spPr>
          <a:xfrm flipH="true" flipV="false" rot="7984387">
            <a:off x="6372235" y="3187700"/>
            <a:ext cx="1743540" cy="5469931"/>
          </a:xfrm>
          <a:custGeom>
            <a:avLst/>
            <a:gdLst/>
            <a:ahLst/>
            <a:cxnLst/>
            <a:rect r="r" b="b" t="t" l="l"/>
            <a:pathLst>
              <a:path h="5469931" w="1743540">
                <a:moveTo>
                  <a:pt x="1743541" y="0"/>
                </a:moveTo>
                <a:lnTo>
                  <a:pt x="0" y="0"/>
                </a:lnTo>
                <a:lnTo>
                  <a:pt x="0" y="5469931"/>
                </a:lnTo>
                <a:lnTo>
                  <a:pt x="1743541" y="5469931"/>
                </a:lnTo>
                <a:lnTo>
                  <a:pt x="1743541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false" rot="6895459">
            <a:off x="6233183" y="4213110"/>
            <a:ext cx="1596932" cy="5009983"/>
          </a:xfrm>
          <a:custGeom>
            <a:avLst/>
            <a:gdLst/>
            <a:ahLst/>
            <a:cxnLst/>
            <a:rect r="r" b="b" t="t" l="l"/>
            <a:pathLst>
              <a:path h="5009983" w="1596932">
                <a:moveTo>
                  <a:pt x="1596932" y="0"/>
                </a:moveTo>
                <a:lnTo>
                  <a:pt x="0" y="0"/>
                </a:lnTo>
                <a:lnTo>
                  <a:pt x="0" y="5009983"/>
                </a:lnTo>
                <a:lnTo>
                  <a:pt x="1596932" y="5009983"/>
                </a:lnTo>
                <a:lnTo>
                  <a:pt x="1596932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8B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4658" y="-56723"/>
            <a:ext cx="20763012" cy="10400446"/>
            <a:chOff x="0" y="0"/>
            <a:chExt cx="27684017" cy="13867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50421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8" y="0"/>
                  </a:lnTo>
                  <a:lnTo>
                    <a:pt x="13842008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842008" y="0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9" y="0"/>
                  </a:lnTo>
                  <a:lnTo>
                    <a:pt x="13842009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32741" y="430265"/>
            <a:ext cx="17112044" cy="9093646"/>
            <a:chOff x="0" y="0"/>
            <a:chExt cx="6851469" cy="36409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-1270"/>
              <a:ext cx="6852739" cy="3639723"/>
            </a:xfrm>
            <a:custGeom>
              <a:avLst/>
              <a:gdLst/>
              <a:ahLst/>
              <a:cxnLst/>
              <a:rect r="r" b="b" t="t" l="l"/>
              <a:pathLst>
                <a:path h="3639723" w="6852739">
                  <a:moveTo>
                    <a:pt x="6841309" y="27940"/>
                  </a:moveTo>
                  <a:cubicBezTo>
                    <a:pt x="6832419" y="24130"/>
                    <a:pt x="6823529" y="21590"/>
                    <a:pt x="6814639" y="21590"/>
                  </a:cubicBezTo>
                  <a:cubicBezTo>
                    <a:pt x="6787969" y="20320"/>
                    <a:pt x="6687027" y="20320"/>
                    <a:pt x="6573396" y="17780"/>
                  </a:cubicBezTo>
                  <a:cubicBezTo>
                    <a:pt x="6313667" y="12700"/>
                    <a:pt x="6059349" y="6350"/>
                    <a:pt x="5799620" y="3810"/>
                  </a:cubicBezTo>
                  <a:cubicBezTo>
                    <a:pt x="5588590" y="1270"/>
                    <a:pt x="5382971" y="3810"/>
                    <a:pt x="5171941" y="2540"/>
                  </a:cubicBezTo>
                  <a:cubicBezTo>
                    <a:pt x="5079953" y="2540"/>
                    <a:pt x="4987966" y="0"/>
                    <a:pt x="4895979" y="2540"/>
                  </a:cubicBezTo>
                  <a:cubicBezTo>
                    <a:pt x="4674127" y="10160"/>
                    <a:pt x="4452275" y="11430"/>
                    <a:pt x="4225012" y="8890"/>
                  </a:cubicBezTo>
                  <a:cubicBezTo>
                    <a:pt x="4111380" y="7620"/>
                    <a:pt x="3997749" y="7620"/>
                    <a:pt x="3884117" y="7620"/>
                  </a:cubicBezTo>
                  <a:cubicBezTo>
                    <a:pt x="3678498" y="7620"/>
                    <a:pt x="3472879" y="7620"/>
                    <a:pt x="3267261" y="6350"/>
                  </a:cubicBezTo>
                  <a:cubicBezTo>
                    <a:pt x="3050820" y="5080"/>
                    <a:pt x="918876" y="2540"/>
                    <a:pt x="707846" y="1270"/>
                  </a:cubicBezTo>
                  <a:cubicBezTo>
                    <a:pt x="534693" y="0"/>
                    <a:pt x="366952" y="1270"/>
                    <a:pt x="193799" y="1270"/>
                  </a:cubicBezTo>
                  <a:cubicBezTo>
                    <a:pt x="74756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81984"/>
                    <a:pt x="16510" y="342931"/>
                    <a:pt x="17780" y="501054"/>
                  </a:cubicBezTo>
                  <a:cubicBezTo>
                    <a:pt x="19050" y="662000"/>
                    <a:pt x="17780" y="822947"/>
                    <a:pt x="16510" y="986718"/>
                  </a:cubicBezTo>
                  <a:cubicBezTo>
                    <a:pt x="15240" y="1153312"/>
                    <a:pt x="2540" y="2901137"/>
                    <a:pt x="2540" y="3067731"/>
                  </a:cubicBezTo>
                  <a:cubicBezTo>
                    <a:pt x="2540" y="3231501"/>
                    <a:pt x="1270" y="3395271"/>
                    <a:pt x="0" y="3559042"/>
                  </a:cubicBezTo>
                  <a:cubicBezTo>
                    <a:pt x="0" y="3585113"/>
                    <a:pt x="3810" y="3595273"/>
                    <a:pt x="15240" y="3600353"/>
                  </a:cubicBezTo>
                  <a:cubicBezTo>
                    <a:pt x="22860" y="3604163"/>
                    <a:pt x="31750" y="3606703"/>
                    <a:pt x="40640" y="3607973"/>
                  </a:cubicBezTo>
                  <a:cubicBezTo>
                    <a:pt x="188388" y="3613053"/>
                    <a:pt x="394007" y="3616863"/>
                    <a:pt x="599625" y="3621943"/>
                  </a:cubicBezTo>
                  <a:cubicBezTo>
                    <a:pt x="713257" y="3624483"/>
                    <a:pt x="826888" y="3629563"/>
                    <a:pt x="940520" y="3630833"/>
                  </a:cubicBezTo>
                  <a:cubicBezTo>
                    <a:pt x="1129906" y="3633373"/>
                    <a:pt x="3240205" y="3634643"/>
                    <a:pt x="3429591" y="3635913"/>
                  </a:cubicBezTo>
                  <a:cubicBezTo>
                    <a:pt x="3456646" y="3635913"/>
                    <a:pt x="3483701" y="3635913"/>
                    <a:pt x="3510756" y="3635913"/>
                  </a:cubicBezTo>
                  <a:cubicBezTo>
                    <a:pt x="3640621" y="3635913"/>
                    <a:pt x="3775897" y="3634643"/>
                    <a:pt x="3905761" y="3634643"/>
                  </a:cubicBezTo>
                  <a:cubicBezTo>
                    <a:pt x="4057270" y="3634643"/>
                    <a:pt x="4203367" y="3635913"/>
                    <a:pt x="4354876" y="3635913"/>
                  </a:cubicBezTo>
                  <a:cubicBezTo>
                    <a:pt x="4576728" y="3635913"/>
                    <a:pt x="4803991" y="3635913"/>
                    <a:pt x="5025843" y="3635913"/>
                  </a:cubicBezTo>
                  <a:cubicBezTo>
                    <a:pt x="5231462" y="3635913"/>
                    <a:pt x="5437081" y="3637183"/>
                    <a:pt x="5642700" y="3638453"/>
                  </a:cubicBezTo>
                  <a:cubicBezTo>
                    <a:pt x="5734687" y="3638453"/>
                    <a:pt x="5832086" y="3639723"/>
                    <a:pt x="5924073" y="3639723"/>
                  </a:cubicBezTo>
                  <a:cubicBezTo>
                    <a:pt x="6221680" y="3638453"/>
                    <a:pt x="6513874" y="3632103"/>
                    <a:pt x="6791779" y="3632103"/>
                  </a:cubicBezTo>
                  <a:cubicBezTo>
                    <a:pt x="6795589" y="3632103"/>
                    <a:pt x="6800669" y="3629563"/>
                    <a:pt x="6804479" y="3627023"/>
                  </a:cubicBezTo>
                  <a:cubicBezTo>
                    <a:pt x="6809559" y="3623213"/>
                    <a:pt x="6812099" y="3616863"/>
                    <a:pt x="6814639" y="3614323"/>
                  </a:cubicBezTo>
                  <a:cubicBezTo>
                    <a:pt x="6815909" y="3539276"/>
                    <a:pt x="6817179" y="3420684"/>
                    <a:pt x="6818449" y="3302091"/>
                  </a:cubicBezTo>
                  <a:cubicBezTo>
                    <a:pt x="6819719" y="3118556"/>
                    <a:pt x="6829879" y="1356612"/>
                    <a:pt x="6831149" y="1173077"/>
                  </a:cubicBezTo>
                  <a:cubicBezTo>
                    <a:pt x="6831149" y="1062955"/>
                    <a:pt x="6832419" y="952834"/>
                    <a:pt x="6833689" y="842712"/>
                  </a:cubicBezTo>
                  <a:cubicBezTo>
                    <a:pt x="6834959" y="724120"/>
                    <a:pt x="6836229" y="605528"/>
                    <a:pt x="6838769" y="486936"/>
                  </a:cubicBezTo>
                  <a:cubicBezTo>
                    <a:pt x="6840039" y="416345"/>
                    <a:pt x="6840039" y="342931"/>
                    <a:pt x="6845119" y="272340"/>
                  </a:cubicBezTo>
                  <a:cubicBezTo>
                    <a:pt x="6850199" y="187631"/>
                    <a:pt x="6852739" y="105746"/>
                    <a:pt x="6851469" y="44450"/>
                  </a:cubicBezTo>
                  <a:cubicBezTo>
                    <a:pt x="6851469" y="38100"/>
                    <a:pt x="6847659" y="30480"/>
                    <a:pt x="6841309" y="27940"/>
                  </a:cubicBezTo>
                  <a:close/>
                </a:path>
              </a:pathLst>
            </a:custGeom>
            <a:solidFill>
              <a:srgbClr val="EDEDED"/>
            </a:solidFill>
          </p:spPr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827537" y="1488187"/>
          <a:ext cx="16722452" cy="7605523"/>
        </p:xfrm>
        <a:graphic>
          <a:graphicData uri="http://schemas.openxmlformats.org/drawingml/2006/table">
            <a:tbl>
              <a:tblPr/>
              <a:tblGrid>
                <a:gridCol w="2679268"/>
                <a:gridCol w="2801318"/>
                <a:gridCol w="5666621"/>
                <a:gridCol w="5575244"/>
              </a:tblGrid>
              <a:tr h="11104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000000"/>
                          </a:solidFill>
                          <a:latin typeface="Noto Serif Display Bold"/>
                          <a:ea typeface="Noto Serif Display Bold"/>
                          <a:cs typeface="Noto Serif Display Bold"/>
                          <a:sym typeface="Noto Serif Display Bold"/>
                        </a:rPr>
                        <a:t>CẤU TẠO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000000"/>
                          </a:solidFill>
                          <a:latin typeface="Noto Serif Display Bold"/>
                          <a:ea typeface="Noto Serif Display Bold"/>
                          <a:cs typeface="Noto Serif Display Bold"/>
                          <a:sym typeface="Noto Serif Display Bold"/>
                        </a:rPr>
                        <a:t>ĐƯỜNG DẪN TRUYỀN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000000"/>
                          </a:solidFill>
                          <a:latin typeface="Noto Serif Display Bold"/>
                          <a:ea typeface="Noto Serif Display Bold"/>
                          <a:cs typeface="Noto Serif Display Bold"/>
                          <a:sym typeface="Noto Serif Display Bold"/>
                        </a:rPr>
                        <a:t>CHỨC NĂNG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26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000000"/>
                          </a:solidFill>
                          <a:latin typeface="Noto Serif Display Bold"/>
                          <a:ea typeface="Noto Serif Display Bold"/>
                          <a:cs typeface="Noto Serif Display Bold"/>
                          <a:sym typeface="Noto Serif Display Bold"/>
                        </a:rPr>
                        <a:t>Dây I (Khứu giác)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Noto Serif Display"/>
                          <a:ea typeface="Noto Serif Display"/>
                          <a:cs typeface="Noto Serif Display"/>
                          <a:sym typeface="Noto Serif Display"/>
                        </a:rPr>
                        <a:t>Axon của nơron cảm giác &amp; Hạch cảm giác.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Noto Serif Display"/>
                          <a:ea typeface="Noto Serif Display"/>
                          <a:cs typeface="Noto Serif Display"/>
                          <a:sym typeface="Noto Serif Display"/>
                        </a:rPr>
                        <a:t> Niêm mạc mũi → bản sàng → hành khứu.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E2841"/>
                          </a:solidFill>
                          <a:latin typeface="Noto Serif Display"/>
                          <a:ea typeface="Noto Serif Display"/>
                          <a:cs typeface="Noto Serif Display"/>
                          <a:sym typeface="Noto Serif Display"/>
                        </a:rPr>
                        <a:t>T</a:t>
                      </a:r>
                      <a:r>
                        <a:rPr lang="en-US" sz="2999" strike="noStrike" u="none">
                          <a:solidFill>
                            <a:srgbClr val="0E2841"/>
                          </a:solidFill>
                          <a:latin typeface="Noto Serif Display"/>
                          <a:ea typeface="Noto Serif Display"/>
                          <a:cs typeface="Noto Serif Display"/>
                          <a:sym typeface="Noto Serif Display"/>
                        </a:rPr>
                        <a:t>ruyền thông tin về mùi hương từ mũi đến não.</a:t>
                      </a:r>
                      <a:r>
                        <a:rPr lang="en-US" sz="2999">
                          <a:solidFill>
                            <a:srgbClr val="000000"/>
                          </a:solidFill>
                          <a:latin typeface="Noto Serif Display"/>
                          <a:ea typeface="Noto Serif Display"/>
                          <a:cs typeface="Noto Serif Display"/>
                          <a:sym typeface="Noto Serif Display"/>
                        </a:rPr>
                        <a:t>​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889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000000"/>
                          </a:solidFill>
                          <a:latin typeface="Noto Serif Display Bold"/>
                          <a:ea typeface="Noto Serif Display Bold"/>
                          <a:cs typeface="Noto Serif Display Bold"/>
                          <a:sym typeface="Noto Serif Display Bold"/>
                        </a:rPr>
                        <a:t>Dây II (Thị giác)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Noto Serif Display"/>
                          <a:ea typeface="Noto Serif Display"/>
                          <a:cs typeface="Noto Serif Display"/>
                          <a:sym typeface="Noto Serif Display"/>
                        </a:rPr>
                        <a:t>Axon của nơron cảm giác &amp; Hạch cảm giác.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Noto Serif Display"/>
                          <a:ea typeface="Noto Serif Display"/>
                          <a:cs typeface="Noto Serif Display"/>
                          <a:sym typeface="Noto Serif Display"/>
                        </a:rPr>
                        <a:t>Nhãn cầu → giao thoa thị giác  → vỏ não chẩm.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Noto Serif Display"/>
                          <a:ea typeface="Noto Serif Display"/>
                          <a:cs typeface="Noto Serif Display"/>
                          <a:sym typeface="Noto Serif Display"/>
                        </a:rPr>
                        <a:t>Truyền tín hiệu hình ảnh từ mắt đến não.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6348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000000"/>
                          </a:solidFill>
                          <a:latin typeface="Noto Serif Display Bold"/>
                          <a:ea typeface="Noto Serif Display Bold"/>
                          <a:cs typeface="Noto Serif Display Bold"/>
                          <a:sym typeface="Noto Serif Display Bold"/>
                        </a:rPr>
                        <a:t>Dây VIII (Tiền đình - Ốc tai)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Noto Serif Display"/>
                          <a:ea typeface="Noto Serif Display"/>
                          <a:cs typeface="Noto Serif Display"/>
                          <a:sym typeface="Noto Serif Display"/>
                        </a:rPr>
                        <a:t>Axon của nơron cảm giác &amp; Hạch cảm giác.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Noto Serif Display"/>
                          <a:ea typeface="Noto Serif Display"/>
                          <a:cs typeface="Noto Serif Display"/>
                          <a:sym typeface="Noto Serif Display"/>
                        </a:rPr>
                        <a:t>Tiền đình và ốc tai → từ tai trong → thân não.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Noto Serif Display"/>
                          <a:ea typeface="Noto Serif Display"/>
                          <a:cs typeface="Noto Serif Display"/>
                          <a:sym typeface="Noto Serif Display"/>
                        </a:rPr>
                        <a:t>Thính giác và thăng bằng.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8" id="8"/>
          <p:cNvSpPr/>
          <p:nvPr/>
        </p:nvSpPr>
        <p:spPr>
          <a:xfrm flipH="false" flipV="false" rot="0">
            <a:off x="0" y="8358860"/>
            <a:ext cx="1883816" cy="1984863"/>
          </a:xfrm>
          <a:custGeom>
            <a:avLst/>
            <a:gdLst/>
            <a:ahLst/>
            <a:cxnLst/>
            <a:rect r="r" b="b" t="t" l="l"/>
            <a:pathLst>
              <a:path h="1984863" w="1883816">
                <a:moveTo>
                  <a:pt x="0" y="0"/>
                </a:moveTo>
                <a:lnTo>
                  <a:pt x="1883816" y="0"/>
                </a:lnTo>
                <a:lnTo>
                  <a:pt x="1883816" y="1984863"/>
                </a:lnTo>
                <a:lnTo>
                  <a:pt x="0" y="19848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251108" y="790076"/>
            <a:ext cx="2262062" cy="3019742"/>
          </a:xfrm>
          <a:custGeom>
            <a:avLst/>
            <a:gdLst/>
            <a:ahLst/>
            <a:cxnLst/>
            <a:rect r="r" b="b" t="t" l="l"/>
            <a:pathLst>
              <a:path h="3019742" w="2262062">
                <a:moveTo>
                  <a:pt x="0" y="0"/>
                </a:moveTo>
                <a:lnTo>
                  <a:pt x="2262061" y="0"/>
                </a:lnTo>
                <a:lnTo>
                  <a:pt x="2262061" y="3019742"/>
                </a:lnTo>
                <a:lnTo>
                  <a:pt x="0" y="30197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8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35023" y="620765"/>
            <a:ext cx="14433113" cy="867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70"/>
              </a:lnSpc>
            </a:pPr>
            <a:r>
              <a:rPr lang="en-US" b="true" sz="7000" spc="-70">
                <a:solidFill>
                  <a:srgbClr val="1800AD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2. 12 đôi dây thần kinh sọ não.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744785" y="9701386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555555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7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39238" y="4638992"/>
            <a:ext cx="9525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5791260" y="9550256"/>
            <a:ext cx="6705481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Các dây thần kinh Cảm giác.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44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4658" y="-56723"/>
            <a:ext cx="20763012" cy="10400446"/>
            <a:chOff x="0" y="0"/>
            <a:chExt cx="27684017" cy="13867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50421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8" y="0"/>
                  </a:lnTo>
                  <a:lnTo>
                    <a:pt x="13842008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842008" y="0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9" y="0"/>
                  </a:lnTo>
                  <a:lnTo>
                    <a:pt x="13842009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80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765189" y="496884"/>
            <a:ext cx="16947480" cy="8448635"/>
            <a:chOff x="0" y="0"/>
            <a:chExt cx="6745747" cy="33628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-1270"/>
              <a:ext cx="6747018" cy="3361611"/>
            </a:xfrm>
            <a:custGeom>
              <a:avLst/>
              <a:gdLst/>
              <a:ahLst/>
              <a:cxnLst/>
              <a:rect r="r" b="b" t="t" l="l"/>
              <a:pathLst>
                <a:path h="3361611" w="6747018">
                  <a:moveTo>
                    <a:pt x="6735587" y="27940"/>
                  </a:moveTo>
                  <a:cubicBezTo>
                    <a:pt x="6726697" y="24130"/>
                    <a:pt x="6717808" y="21590"/>
                    <a:pt x="6708918" y="21590"/>
                  </a:cubicBezTo>
                  <a:cubicBezTo>
                    <a:pt x="6682247" y="20320"/>
                    <a:pt x="6582857" y="20320"/>
                    <a:pt x="6471012" y="17780"/>
                  </a:cubicBezTo>
                  <a:cubicBezTo>
                    <a:pt x="6215364" y="12700"/>
                    <a:pt x="5965043" y="6350"/>
                    <a:pt x="5709395" y="3810"/>
                  </a:cubicBezTo>
                  <a:cubicBezTo>
                    <a:pt x="5501682" y="1270"/>
                    <a:pt x="5299294" y="3810"/>
                    <a:pt x="5091581" y="2540"/>
                  </a:cubicBezTo>
                  <a:cubicBezTo>
                    <a:pt x="5001039" y="2540"/>
                    <a:pt x="4910497" y="0"/>
                    <a:pt x="4819955" y="2540"/>
                  </a:cubicBezTo>
                  <a:cubicBezTo>
                    <a:pt x="4601589" y="10160"/>
                    <a:pt x="4383224" y="11430"/>
                    <a:pt x="4159533" y="8890"/>
                  </a:cubicBezTo>
                  <a:cubicBezTo>
                    <a:pt x="4047686" y="7620"/>
                    <a:pt x="3935841" y="7620"/>
                    <a:pt x="3823995" y="7620"/>
                  </a:cubicBezTo>
                  <a:cubicBezTo>
                    <a:pt x="3621607" y="7620"/>
                    <a:pt x="3419220" y="7620"/>
                    <a:pt x="3216833" y="6350"/>
                  </a:cubicBezTo>
                  <a:cubicBezTo>
                    <a:pt x="3003793" y="5080"/>
                    <a:pt x="905353" y="2540"/>
                    <a:pt x="697640" y="1270"/>
                  </a:cubicBezTo>
                  <a:cubicBezTo>
                    <a:pt x="527208" y="0"/>
                    <a:pt x="362102" y="1270"/>
                    <a:pt x="191671" y="1270"/>
                  </a:cubicBezTo>
                  <a:cubicBezTo>
                    <a:pt x="74499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72787"/>
                    <a:pt x="16510" y="320983"/>
                    <a:pt x="17780" y="466580"/>
                  </a:cubicBezTo>
                  <a:cubicBezTo>
                    <a:pt x="19050" y="614776"/>
                    <a:pt x="17780" y="762972"/>
                    <a:pt x="16510" y="913768"/>
                  </a:cubicBezTo>
                  <a:cubicBezTo>
                    <a:pt x="15240" y="1067164"/>
                    <a:pt x="2540" y="2676522"/>
                    <a:pt x="2540" y="2829918"/>
                  </a:cubicBezTo>
                  <a:cubicBezTo>
                    <a:pt x="2540" y="2980714"/>
                    <a:pt x="1270" y="3131510"/>
                    <a:pt x="0" y="3282307"/>
                  </a:cubicBezTo>
                  <a:cubicBezTo>
                    <a:pt x="0" y="3307001"/>
                    <a:pt x="3810" y="3317161"/>
                    <a:pt x="15240" y="3322241"/>
                  </a:cubicBezTo>
                  <a:cubicBezTo>
                    <a:pt x="22860" y="3326051"/>
                    <a:pt x="31750" y="3328591"/>
                    <a:pt x="40640" y="3329861"/>
                  </a:cubicBezTo>
                  <a:cubicBezTo>
                    <a:pt x="186345" y="3334941"/>
                    <a:pt x="388732" y="3338751"/>
                    <a:pt x="591120" y="3343831"/>
                  </a:cubicBezTo>
                  <a:cubicBezTo>
                    <a:pt x="702965" y="3346371"/>
                    <a:pt x="814811" y="3351451"/>
                    <a:pt x="926657" y="3352721"/>
                  </a:cubicBezTo>
                  <a:cubicBezTo>
                    <a:pt x="1113067" y="3355261"/>
                    <a:pt x="3190202" y="3356531"/>
                    <a:pt x="3376612" y="3357801"/>
                  </a:cubicBezTo>
                  <a:cubicBezTo>
                    <a:pt x="3403242" y="3357801"/>
                    <a:pt x="3429872" y="3357801"/>
                    <a:pt x="3456502" y="3357801"/>
                  </a:cubicBezTo>
                  <a:cubicBezTo>
                    <a:pt x="3584325" y="3357801"/>
                    <a:pt x="3717475" y="3356531"/>
                    <a:pt x="3845299" y="3356531"/>
                  </a:cubicBezTo>
                  <a:cubicBezTo>
                    <a:pt x="3994426" y="3356531"/>
                    <a:pt x="4138228" y="3357801"/>
                    <a:pt x="4287356" y="3357801"/>
                  </a:cubicBezTo>
                  <a:cubicBezTo>
                    <a:pt x="4505721" y="3357801"/>
                    <a:pt x="4729413" y="3357801"/>
                    <a:pt x="4947779" y="3357801"/>
                  </a:cubicBezTo>
                  <a:cubicBezTo>
                    <a:pt x="5150166" y="3357801"/>
                    <a:pt x="5352554" y="3359071"/>
                    <a:pt x="5554942" y="3360341"/>
                  </a:cubicBezTo>
                  <a:cubicBezTo>
                    <a:pt x="5645483" y="3360341"/>
                    <a:pt x="5741351" y="3361611"/>
                    <a:pt x="5831892" y="3361611"/>
                  </a:cubicBezTo>
                  <a:cubicBezTo>
                    <a:pt x="6124822" y="3360341"/>
                    <a:pt x="6412426" y="3353991"/>
                    <a:pt x="6686057" y="3353991"/>
                  </a:cubicBezTo>
                  <a:cubicBezTo>
                    <a:pt x="6689868" y="3353991"/>
                    <a:pt x="6694947" y="3351451"/>
                    <a:pt x="6698757" y="3348911"/>
                  </a:cubicBezTo>
                  <a:cubicBezTo>
                    <a:pt x="6703837" y="3345101"/>
                    <a:pt x="6706377" y="3338751"/>
                    <a:pt x="6708918" y="3336211"/>
                  </a:cubicBezTo>
                  <a:cubicBezTo>
                    <a:pt x="6710187" y="3264106"/>
                    <a:pt x="6711457" y="3154909"/>
                    <a:pt x="6712727" y="3045712"/>
                  </a:cubicBezTo>
                  <a:cubicBezTo>
                    <a:pt x="6713997" y="2876717"/>
                    <a:pt x="6724157" y="1254359"/>
                    <a:pt x="6725427" y="1085363"/>
                  </a:cubicBezTo>
                  <a:cubicBezTo>
                    <a:pt x="6725427" y="983966"/>
                    <a:pt x="6726697" y="882569"/>
                    <a:pt x="6727968" y="781171"/>
                  </a:cubicBezTo>
                  <a:cubicBezTo>
                    <a:pt x="6729237" y="671974"/>
                    <a:pt x="6730507" y="562777"/>
                    <a:pt x="6733047" y="453580"/>
                  </a:cubicBezTo>
                  <a:cubicBezTo>
                    <a:pt x="6734318" y="388582"/>
                    <a:pt x="6734318" y="320983"/>
                    <a:pt x="6739397" y="255985"/>
                  </a:cubicBezTo>
                  <a:cubicBezTo>
                    <a:pt x="6744477" y="177987"/>
                    <a:pt x="6747018" y="102589"/>
                    <a:pt x="6745747" y="44450"/>
                  </a:cubicBezTo>
                  <a:cubicBezTo>
                    <a:pt x="6745747" y="38100"/>
                    <a:pt x="6741937" y="30480"/>
                    <a:pt x="6735587" y="27940"/>
                  </a:cubicBezTo>
                  <a:close/>
                </a:path>
              </a:pathLst>
            </a:custGeom>
            <a:solidFill>
              <a:srgbClr val="EDEDED"/>
            </a:solidFill>
          </p:spPr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218558" y="2678715"/>
          <a:ext cx="16040742" cy="5677505"/>
        </p:xfrm>
        <a:graphic>
          <a:graphicData uri="http://schemas.openxmlformats.org/drawingml/2006/table">
            <a:tbl>
              <a:tblPr/>
              <a:tblGrid>
                <a:gridCol w="3652385"/>
                <a:gridCol w="3404185"/>
                <a:gridCol w="4938512"/>
                <a:gridCol w="4045660"/>
              </a:tblGrid>
              <a:tr h="177564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5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5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Noto Serif Display Bold"/>
                          <a:ea typeface="Noto Serif Display Bold"/>
                          <a:cs typeface="Noto Serif Display Bold"/>
                          <a:sym typeface="Noto Serif Display Bold"/>
                        </a:rPr>
                        <a:t>Cấu tạo 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5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Noto Serif Display Bold"/>
                          <a:ea typeface="Noto Serif Display Bold"/>
                          <a:cs typeface="Noto Serif Display Bold"/>
                          <a:sym typeface="Noto Serif Display Bold"/>
                        </a:rPr>
                        <a:t>Đường dẫn truyền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5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Noto Serif Display Bold"/>
                          <a:ea typeface="Noto Serif Display Bold"/>
                          <a:cs typeface="Noto Serif Display Bold"/>
                          <a:sym typeface="Noto Serif Display Bold"/>
                        </a:rPr>
                        <a:t>Chức năng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808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5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Noto Serif Display Bold"/>
                          <a:ea typeface="Noto Serif Display Bold"/>
                          <a:cs typeface="Noto Serif Display Bold"/>
                          <a:sym typeface="Noto Serif Display Bold"/>
                        </a:rPr>
                        <a:t>Dây III (Vận nhãn chung)​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 anchor="t" rtlCol="false"/>
                    <a:lstStyle/>
                    <a:p>
                      <a:pPr algn="ctr">
                        <a:lnSpc>
                          <a:spcPts val="375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Noto Serif Display"/>
                          <a:ea typeface="Noto Serif Display"/>
                          <a:cs typeface="Noto Serif Display"/>
                          <a:sym typeface="Noto Serif Display"/>
                        </a:rPr>
                        <a:t>Axon của nơron vận động trung ương. Đối giao cảm (dây III).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5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Noto Serif Display"/>
                          <a:ea typeface="Noto Serif Display"/>
                          <a:cs typeface="Noto Serif Display"/>
                          <a:sym typeface="Noto Serif Display"/>
                        </a:rPr>
                        <a:t>Trung não → Các cơ vận nhãn.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5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Noto Serif Display"/>
                          <a:ea typeface="Noto Serif Display"/>
                          <a:cs typeface="Noto Serif Display"/>
                          <a:sym typeface="Noto Serif Display"/>
                        </a:rPr>
                        <a:t>Cử động mắt, co đồng tử, điều tiết thủy tinh thể.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09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5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Noto Serif Display Bold"/>
                          <a:ea typeface="Noto Serif Display Bold"/>
                          <a:cs typeface="Noto Serif Display Bold"/>
                          <a:sym typeface="Noto Serif Display Bold"/>
                        </a:rPr>
                        <a:t>Dây IV (Ròng rọc)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375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Noto Serif Display"/>
                          <a:ea typeface="Noto Serif Display"/>
                          <a:cs typeface="Noto Serif Display"/>
                          <a:sym typeface="Noto Serif Display"/>
                        </a:rPr>
                        <a:t>Axon của nơron vận động trung ương. Đối giao cảm (dây III).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5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Noto Serif Display"/>
                          <a:ea typeface="Noto Serif Display"/>
                          <a:cs typeface="Noto Serif Display"/>
                          <a:sym typeface="Noto Serif Display"/>
                        </a:rPr>
                        <a:t>Trung não → cơ chéo trên của nhãn cầu.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Noto Serif Display"/>
                          <a:ea typeface="Noto Serif Display"/>
                          <a:cs typeface="Noto Serif Display"/>
                          <a:sym typeface="Noto Serif Display"/>
                        </a:rPr>
                        <a:t>Giúp mắt liếc xuống và ra ngoài.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8" id="8"/>
          <p:cNvSpPr/>
          <p:nvPr/>
        </p:nvSpPr>
        <p:spPr>
          <a:xfrm flipH="false" flipV="false" rot="-2700000">
            <a:off x="155397" y="8452873"/>
            <a:ext cx="2126322" cy="1268061"/>
          </a:xfrm>
          <a:custGeom>
            <a:avLst/>
            <a:gdLst/>
            <a:ahLst/>
            <a:cxnLst/>
            <a:rect r="r" b="b" t="t" l="l"/>
            <a:pathLst>
              <a:path h="1268061" w="2126322">
                <a:moveTo>
                  <a:pt x="0" y="0"/>
                </a:moveTo>
                <a:lnTo>
                  <a:pt x="2126322" y="0"/>
                </a:lnTo>
                <a:lnTo>
                  <a:pt x="2126322" y="1268062"/>
                </a:lnTo>
                <a:lnTo>
                  <a:pt x="0" y="12680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3132857">
            <a:off x="15792260" y="612937"/>
            <a:ext cx="2934080" cy="2822052"/>
          </a:xfrm>
          <a:custGeom>
            <a:avLst/>
            <a:gdLst/>
            <a:ahLst/>
            <a:cxnLst/>
            <a:rect r="r" b="b" t="t" l="l"/>
            <a:pathLst>
              <a:path h="2822052" w="2934080">
                <a:moveTo>
                  <a:pt x="0" y="0"/>
                </a:moveTo>
                <a:lnTo>
                  <a:pt x="2934080" y="0"/>
                </a:lnTo>
                <a:lnTo>
                  <a:pt x="2934080" y="2822052"/>
                </a:lnTo>
                <a:lnTo>
                  <a:pt x="0" y="28220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286137" y="913339"/>
            <a:ext cx="13361422" cy="939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</a:pPr>
            <a:r>
              <a:rPr lang="en-US" b="true" sz="7000" spc="-70">
                <a:solidFill>
                  <a:srgbClr val="3E4A9D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2. 12 đôi dây thần kinh sọ não.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848395" y="9737412"/>
            <a:ext cx="144066" cy="348528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39"/>
              </a:lnSpc>
              <a:spcBef>
                <a:spcPct val="0"/>
              </a:spcBef>
            </a:pPr>
            <a:r>
              <a:rPr lang="en-US" b="true" sz="2028">
                <a:solidFill>
                  <a:srgbClr val="FFFFFF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8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0" y="9105587"/>
            <a:ext cx="16947480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Các dây thần kinh vận động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44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4658" y="-56723"/>
            <a:ext cx="20763012" cy="10400446"/>
            <a:chOff x="0" y="0"/>
            <a:chExt cx="27684017" cy="13867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50421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8" y="0"/>
                  </a:lnTo>
                  <a:lnTo>
                    <a:pt x="13842008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842008" y="0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9" y="0"/>
                  </a:lnTo>
                  <a:lnTo>
                    <a:pt x="13842009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80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765189" y="609434"/>
            <a:ext cx="16947480" cy="8648866"/>
            <a:chOff x="0" y="0"/>
            <a:chExt cx="6745747" cy="34425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-1270"/>
              <a:ext cx="6747018" cy="3441311"/>
            </a:xfrm>
            <a:custGeom>
              <a:avLst/>
              <a:gdLst/>
              <a:ahLst/>
              <a:cxnLst/>
              <a:rect r="r" b="b" t="t" l="l"/>
              <a:pathLst>
                <a:path h="3441311" w="6747018">
                  <a:moveTo>
                    <a:pt x="6735587" y="27940"/>
                  </a:moveTo>
                  <a:cubicBezTo>
                    <a:pt x="6726697" y="24130"/>
                    <a:pt x="6717808" y="21590"/>
                    <a:pt x="6708918" y="21590"/>
                  </a:cubicBezTo>
                  <a:cubicBezTo>
                    <a:pt x="6682247" y="20320"/>
                    <a:pt x="6582857" y="20320"/>
                    <a:pt x="6471012" y="17780"/>
                  </a:cubicBezTo>
                  <a:cubicBezTo>
                    <a:pt x="6215364" y="12700"/>
                    <a:pt x="5965043" y="6350"/>
                    <a:pt x="5709395" y="3810"/>
                  </a:cubicBezTo>
                  <a:cubicBezTo>
                    <a:pt x="5501682" y="1270"/>
                    <a:pt x="5299294" y="3810"/>
                    <a:pt x="5091581" y="2540"/>
                  </a:cubicBezTo>
                  <a:cubicBezTo>
                    <a:pt x="5001039" y="2540"/>
                    <a:pt x="4910497" y="0"/>
                    <a:pt x="4819955" y="2540"/>
                  </a:cubicBezTo>
                  <a:cubicBezTo>
                    <a:pt x="4601589" y="10160"/>
                    <a:pt x="4383224" y="11430"/>
                    <a:pt x="4159533" y="8890"/>
                  </a:cubicBezTo>
                  <a:cubicBezTo>
                    <a:pt x="4047686" y="7620"/>
                    <a:pt x="3935841" y="7620"/>
                    <a:pt x="3823995" y="7620"/>
                  </a:cubicBezTo>
                  <a:cubicBezTo>
                    <a:pt x="3621607" y="7620"/>
                    <a:pt x="3419220" y="7620"/>
                    <a:pt x="3216833" y="6350"/>
                  </a:cubicBezTo>
                  <a:cubicBezTo>
                    <a:pt x="3003793" y="5080"/>
                    <a:pt x="905353" y="2540"/>
                    <a:pt x="697640" y="1270"/>
                  </a:cubicBezTo>
                  <a:cubicBezTo>
                    <a:pt x="527208" y="0"/>
                    <a:pt x="362102" y="1270"/>
                    <a:pt x="191671" y="1270"/>
                  </a:cubicBezTo>
                  <a:cubicBezTo>
                    <a:pt x="74499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75423"/>
                    <a:pt x="16510" y="327273"/>
                    <a:pt x="17780" y="476459"/>
                  </a:cubicBezTo>
                  <a:cubicBezTo>
                    <a:pt x="19050" y="628309"/>
                    <a:pt x="17780" y="780159"/>
                    <a:pt x="16510" y="934673"/>
                  </a:cubicBezTo>
                  <a:cubicBezTo>
                    <a:pt x="15240" y="1091852"/>
                    <a:pt x="2540" y="2740891"/>
                    <a:pt x="2540" y="2898069"/>
                  </a:cubicBezTo>
                  <a:cubicBezTo>
                    <a:pt x="2540" y="3052583"/>
                    <a:pt x="1270" y="3207097"/>
                    <a:pt x="0" y="3361611"/>
                  </a:cubicBezTo>
                  <a:cubicBezTo>
                    <a:pt x="0" y="3386701"/>
                    <a:pt x="3810" y="3396861"/>
                    <a:pt x="15240" y="3401941"/>
                  </a:cubicBezTo>
                  <a:cubicBezTo>
                    <a:pt x="22860" y="3405751"/>
                    <a:pt x="31750" y="3408291"/>
                    <a:pt x="40640" y="3409561"/>
                  </a:cubicBezTo>
                  <a:cubicBezTo>
                    <a:pt x="186345" y="3414641"/>
                    <a:pt x="388732" y="3418451"/>
                    <a:pt x="591120" y="3423531"/>
                  </a:cubicBezTo>
                  <a:cubicBezTo>
                    <a:pt x="702965" y="3426071"/>
                    <a:pt x="814811" y="3431151"/>
                    <a:pt x="926657" y="3432421"/>
                  </a:cubicBezTo>
                  <a:cubicBezTo>
                    <a:pt x="1113067" y="3434961"/>
                    <a:pt x="3190202" y="3436231"/>
                    <a:pt x="3376612" y="3437501"/>
                  </a:cubicBezTo>
                  <a:cubicBezTo>
                    <a:pt x="3403242" y="3437501"/>
                    <a:pt x="3429872" y="3437501"/>
                    <a:pt x="3456502" y="3437501"/>
                  </a:cubicBezTo>
                  <a:cubicBezTo>
                    <a:pt x="3584325" y="3437501"/>
                    <a:pt x="3717475" y="3436231"/>
                    <a:pt x="3845299" y="3436231"/>
                  </a:cubicBezTo>
                  <a:cubicBezTo>
                    <a:pt x="3994426" y="3436231"/>
                    <a:pt x="4138228" y="3437501"/>
                    <a:pt x="4287356" y="3437501"/>
                  </a:cubicBezTo>
                  <a:cubicBezTo>
                    <a:pt x="4505721" y="3437501"/>
                    <a:pt x="4729413" y="3437501"/>
                    <a:pt x="4947779" y="3437501"/>
                  </a:cubicBezTo>
                  <a:cubicBezTo>
                    <a:pt x="5150166" y="3437501"/>
                    <a:pt x="5352554" y="3438771"/>
                    <a:pt x="5554942" y="3440041"/>
                  </a:cubicBezTo>
                  <a:cubicBezTo>
                    <a:pt x="5645483" y="3440041"/>
                    <a:pt x="5741351" y="3441311"/>
                    <a:pt x="5831892" y="3441311"/>
                  </a:cubicBezTo>
                  <a:cubicBezTo>
                    <a:pt x="6124822" y="3440041"/>
                    <a:pt x="6412426" y="3433691"/>
                    <a:pt x="6686057" y="3433691"/>
                  </a:cubicBezTo>
                  <a:cubicBezTo>
                    <a:pt x="6689868" y="3433691"/>
                    <a:pt x="6694947" y="3431151"/>
                    <a:pt x="6698757" y="3428611"/>
                  </a:cubicBezTo>
                  <a:cubicBezTo>
                    <a:pt x="6703837" y="3424801"/>
                    <a:pt x="6706377" y="3418451"/>
                    <a:pt x="6708918" y="3415911"/>
                  </a:cubicBezTo>
                  <a:cubicBezTo>
                    <a:pt x="6710187" y="3342963"/>
                    <a:pt x="6711457" y="3231073"/>
                    <a:pt x="6712727" y="3119184"/>
                  </a:cubicBezTo>
                  <a:cubicBezTo>
                    <a:pt x="6713997" y="2946021"/>
                    <a:pt x="6724157" y="1283662"/>
                    <a:pt x="6725427" y="1110500"/>
                  </a:cubicBezTo>
                  <a:cubicBezTo>
                    <a:pt x="6725427" y="1006602"/>
                    <a:pt x="6726697" y="902705"/>
                    <a:pt x="6727968" y="798807"/>
                  </a:cubicBezTo>
                  <a:cubicBezTo>
                    <a:pt x="6729237" y="686918"/>
                    <a:pt x="6730507" y="575028"/>
                    <a:pt x="6733047" y="463139"/>
                  </a:cubicBezTo>
                  <a:cubicBezTo>
                    <a:pt x="6734318" y="396538"/>
                    <a:pt x="6734318" y="327273"/>
                    <a:pt x="6739397" y="260672"/>
                  </a:cubicBezTo>
                  <a:cubicBezTo>
                    <a:pt x="6744477" y="180751"/>
                    <a:pt x="6747018" y="103494"/>
                    <a:pt x="6745747" y="44450"/>
                  </a:cubicBezTo>
                  <a:cubicBezTo>
                    <a:pt x="6745747" y="38100"/>
                    <a:pt x="6741937" y="30480"/>
                    <a:pt x="6735587" y="27940"/>
                  </a:cubicBezTo>
                  <a:close/>
                </a:path>
              </a:pathLst>
            </a:custGeom>
            <a:solidFill>
              <a:srgbClr val="EDEDED"/>
            </a:solidFill>
          </p:spPr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123629" y="1887828"/>
          <a:ext cx="16040742" cy="6845634"/>
        </p:xfrm>
        <a:graphic>
          <a:graphicData uri="http://schemas.openxmlformats.org/drawingml/2006/table">
            <a:tbl>
              <a:tblPr/>
              <a:tblGrid>
                <a:gridCol w="4306730"/>
                <a:gridCol w="2749840"/>
                <a:gridCol w="4938512"/>
                <a:gridCol w="4045660"/>
              </a:tblGrid>
              <a:tr h="11206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5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5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Noto Serif Display Bold"/>
                          <a:ea typeface="Noto Serif Display Bold"/>
                          <a:cs typeface="Noto Serif Display Bold"/>
                          <a:sym typeface="Noto Serif Display Bold"/>
                        </a:rPr>
                        <a:t>Cấu tạo 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5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Noto Serif Display Bold"/>
                          <a:ea typeface="Noto Serif Display Bold"/>
                          <a:cs typeface="Noto Serif Display Bold"/>
                          <a:sym typeface="Noto Serif Display Bold"/>
                        </a:rPr>
                        <a:t>Đường dẫn truyền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5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Noto Serif Display Bold"/>
                          <a:ea typeface="Noto Serif Display Bold"/>
                          <a:cs typeface="Noto Serif Display Bold"/>
                          <a:sym typeface="Noto Serif Display Bold"/>
                        </a:rPr>
                        <a:t>Chức năng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477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5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Noto Serif Display Bold"/>
                          <a:ea typeface="Noto Serif Display Bold"/>
                          <a:cs typeface="Noto Serif Display Bold"/>
                          <a:sym typeface="Noto Serif Display Bold"/>
                        </a:rPr>
                        <a:t>Dây VI (Vận nhãn ngoài)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 anchor="t" rtlCol="false"/>
                    <a:lstStyle/>
                    <a:p>
                      <a:pPr algn="ctr">
                        <a:lnSpc>
                          <a:spcPts val="375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Noto Serif Display"/>
                          <a:ea typeface="Noto Serif Display"/>
                          <a:cs typeface="Noto Serif Display"/>
                          <a:sym typeface="Noto Serif Display"/>
                        </a:rPr>
                        <a:t>Axon của nơron vận động trung ương.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5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Noto Serif Display"/>
                          <a:ea typeface="Noto Serif Display"/>
                          <a:cs typeface="Noto Serif Display"/>
                          <a:sym typeface="Noto Serif Display"/>
                        </a:rPr>
                        <a:t>Cầu não → cơ thẳng ngoài của mắt.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5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Noto Serif Display"/>
                          <a:ea typeface="Noto Serif Display"/>
                          <a:cs typeface="Noto Serif Display"/>
                          <a:sym typeface="Noto Serif Display"/>
                        </a:rPr>
                        <a:t>Vận động liếc ra ngoài.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2376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5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Noto Serif Display Bold"/>
                          <a:ea typeface="Noto Serif Display Bold"/>
                          <a:cs typeface="Noto Serif Display Bold"/>
                          <a:sym typeface="Noto Serif Display Bold"/>
                        </a:rPr>
                        <a:t>Dây XI (Phụ)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375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Noto Serif Display"/>
                          <a:ea typeface="Noto Serif Display"/>
                          <a:cs typeface="Noto Serif Display"/>
                          <a:sym typeface="Noto Serif Display"/>
                        </a:rPr>
                        <a:t>Axon của nơron vận động trung ương.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5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Noto Serif Display"/>
                          <a:ea typeface="Noto Serif Display"/>
                          <a:cs typeface="Noto Serif Display"/>
                          <a:sym typeface="Noto Serif Display"/>
                        </a:rPr>
                        <a:t>Hành não và tủy cổ → cơ ức đòn - chũm và cơ thang.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Noto Serif Display"/>
                          <a:ea typeface="Noto Serif Display"/>
                          <a:cs typeface="Noto Serif Display"/>
                          <a:sym typeface="Noto Serif Display"/>
                        </a:rPr>
                        <a:t>Vận động đầu, cổ, vai.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643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000000"/>
                          </a:solidFill>
                          <a:latin typeface="Noto Serif Display Bold"/>
                          <a:ea typeface="Noto Serif Display Bold"/>
                          <a:cs typeface="Noto Serif Display Bold"/>
                          <a:sym typeface="Noto Serif Display Bold"/>
                        </a:rPr>
                        <a:t>Dây XII (Hạ thiệt)</a:t>
                      </a:r>
                      <a:endParaRPr lang="en-US" sz="1100"/>
                    </a:p>
                    <a:p>
                      <a:pPr algn="ctr">
                        <a:lnSpc>
                          <a:spcPts val="4199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375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Noto Serif Display"/>
                          <a:ea typeface="Noto Serif Display"/>
                          <a:cs typeface="Noto Serif Display"/>
                          <a:sym typeface="Noto Serif Display"/>
                        </a:rPr>
                        <a:t>Axon của nơron vận động trung ương.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Noto Serif Display"/>
                          <a:ea typeface="Noto Serif Display"/>
                          <a:cs typeface="Noto Serif Display"/>
                          <a:sym typeface="Noto Serif Display"/>
                        </a:rPr>
                        <a:t>Hành não → cơ lưỡi.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Noto Serif Display"/>
                          <a:ea typeface="Noto Serif Display"/>
                          <a:cs typeface="Noto Serif Display"/>
                          <a:sym typeface="Noto Serif Display"/>
                        </a:rPr>
                        <a:t>Vận động lưỡi (nói, nhai, nuốt).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8" id="8"/>
          <p:cNvSpPr/>
          <p:nvPr/>
        </p:nvSpPr>
        <p:spPr>
          <a:xfrm flipH="true" flipV="false" rot="0">
            <a:off x="656703" y="7942744"/>
            <a:ext cx="3258869" cy="3069262"/>
          </a:xfrm>
          <a:custGeom>
            <a:avLst/>
            <a:gdLst/>
            <a:ahLst/>
            <a:cxnLst/>
            <a:rect r="r" b="b" t="t" l="l"/>
            <a:pathLst>
              <a:path h="3069262" w="3258869">
                <a:moveTo>
                  <a:pt x="3258869" y="0"/>
                </a:moveTo>
                <a:lnTo>
                  <a:pt x="0" y="0"/>
                </a:lnTo>
                <a:lnTo>
                  <a:pt x="0" y="3069262"/>
                </a:lnTo>
                <a:lnTo>
                  <a:pt x="3258869" y="3069262"/>
                </a:lnTo>
                <a:lnTo>
                  <a:pt x="325886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991673" y="609434"/>
            <a:ext cx="1720996" cy="1720996"/>
          </a:xfrm>
          <a:custGeom>
            <a:avLst/>
            <a:gdLst/>
            <a:ahLst/>
            <a:cxnLst/>
            <a:rect r="r" b="b" t="t" l="l"/>
            <a:pathLst>
              <a:path h="1720996" w="1720996">
                <a:moveTo>
                  <a:pt x="0" y="0"/>
                </a:moveTo>
                <a:lnTo>
                  <a:pt x="1720996" y="0"/>
                </a:lnTo>
                <a:lnTo>
                  <a:pt x="1720996" y="1720996"/>
                </a:lnTo>
                <a:lnTo>
                  <a:pt x="0" y="17209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286137" y="733259"/>
            <a:ext cx="13361422" cy="939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</a:pPr>
            <a:r>
              <a:rPr lang="en-US" b="true" sz="7000" spc="-70">
                <a:solidFill>
                  <a:srgbClr val="3E4A9D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2. 12 đôi dây thần kinh sọ não.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848395" y="9737412"/>
            <a:ext cx="144066" cy="348528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39"/>
              </a:lnSpc>
              <a:spcBef>
                <a:spcPct val="0"/>
              </a:spcBef>
            </a:pPr>
            <a:r>
              <a:rPr lang="en-US" b="true" sz="2028">
                <a:solidFill>
                  <a:srgbClr val="FFFFFF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9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93109" y="9401175"/>
            <a:ext cx="16947480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Các dây thần kinh vận động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8B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4658" y="-56723"/>
            <a:ext cx="20763012" cy="10400446"/>
            <a:chOff x="0" y="0"/>
            <a:chExt cx="27684017" cy="13867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50421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8" y="0"/>
                  </a:lnTo>
                  <a:lnTo>
                    <a:pt x="13842008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842008" y="0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9" y="0"/>
                  </a:lnTo>
                  <a:lnTo>
                    <a:pt x="13842009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57275"/>
            <a:ext cx="16230600" cy="8229600"/>
            <a:chOff x="0" y="0"/>
            <a:chExt cx="6851469" cy="34739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-1270"/>
              <a:ext cx="6852739" cy="3472714"/>
            </a:xfrm>
            <a:custGeom>
              <a:avLst/>
              <a:gdLst/>
              <a:ahLst/>
              <a:cxnLst/>
              <a:rect r="r" b="b" t="t" l="l"/>
              <a:pathLst>
                <a:path h="3472714" w="6852739">
                  <a:moveTo>
                    <a:pt x="6841309" y="27940"/>
                  </a:moveTo>
                  <a:cubicBezTo>
                    <a:pt x="6832419" y="24130"/>
                    <a:pt x="6823529" y="21590"/>
                    <a:pt x="6814639" y="21590"/>
                  </a:cubicBezTo>
                  <a:cubicBezTo>
                    <a:pt x="6787969" y="20320"/>
                    <a:pt x="6687027" y="20320"/>
                    <a:pt x="6573396" y="17780"/>
                  </a:cubicBezTo>
                  <a:cubicBezTo>
                    <a:pt x="6313667" y="12700"/>
                    <a:pt x="6059349" y="6350"/>
                    <a:pt x="5799620" y="3810"/>
                  </a:cubicBezTo>
                  <a:cubicBezTo>
                    <a:pt x="5588590" y="1270"/>
                    <a:pt x="5382971" y="3810"/>
                    <a:pt x="5171941" y="2540"/>
                  </a:cubicBezTo>
                  <a:cubicBezTo>
                    <a:pt x="5079953" y="2540"/>
                    <a:pt x="4987966" y="0"/>
                    <a:pt x="4895979" y="2540"/>
                  </a:cubicBezTo>
                  <a:cubicBezTo>
                    <a:pt x="4674127" y="10160"/>
                    <a:pt x="4452275" y="11430"/>
                    <a:pt x="4225012" y="8890"/>
                  </a:cubicBezTo>
                  <a:cubicBezTo>
                    <a:pt x="4111380" y="7620"/>
                    <a:pt x="3997749" y="7620"/>
                    <a:pt x="3884117" y="7620"/>
                  </a:cubicBezTo>
                  <a:cubicBezTo>
                    <a:pt x="3678498" y="7620"/>
                    <a:pt x="3472879" y="7620"/>
                    <a:pt x="3267261" y="6350"/>
                  </a:cubicBezTo>
                  <a:cubicBezTo>
                    <a:pt x="3050820" y="5080"/>
                    <a:pt x="918876" y="2540"/>
                    <a:pt x="707846" y="1270"/>
                  </a:cubicBezTo>
                  <a:cubicBezTo>
                    <a:pt x="534693" y="0"/>
                    <a:pt x="366952" y="1270"/>
                    <a:pt x="193799" y="1270"/>
                  </a:cubicBezTo>
                  <a:cubicBezTo>
                    <a:pt x="74756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76461"/>
                    <a:pt x="16510" y="329751"/>
                    <a:pt x="17780" y="480352"/>
                  </a:cubicBezTo>
                  <a:cubicBezTo>
                    <a:pt x="19050" y="633642"/>
                    <a:pt x="17780" y="786931"/>
                    <a:pt x="16510" y="942911"/>
                  </a:cubicBezTo>
                  <a:cubicBezTo>
                    <a:pt x="15240" y="1101579"/>
                    <a:pt x="2540" y="2766254"/>
                    <a:pt x="2540" y="2924922"/>
                  </a:cubicBezTo>
                  <a:cubicBezTo>
                    <a:pt x="2540" y="3080901"/>
                    <a:pt x="1270" y="3236880"/>
                    <a:pt x="0" y="3392859"/>
                  </a:cubicBezTo>
                  <a:cubicBezTo>
                    <a:pt x="0" y="3418104"/>
                    <a:pt x="3810" y="3428264"/>
                    <a:pt x="15240" y="3433344"/>
                  </a:cubicBezTo>
                  <a:cubicBezTo>
                    <a:pt x="22860" y="3437154"/>
                    <a:pt x="31750" y="3439694"/>
                    <a:pt x="40640" y="3440964"/>
                  </a:cubicBezTo>
                  <a:cubicBezTo>
                    <a:pt x="188388" y="3446044"/>
                    <a:pt x="394007" y="3449854"/>
                    <a:pt x="599625" y="3454934"/>
                  </a:cubicBezTo>
                  <a:cubicBezTo>
                    <a:pt x="713257" y="3457474"/>
                    <a:pt x="826888" y="3462554"/>
                    <a:pt x="940520" y="3463824"/>
                  </a:cubicBezTo>
                  <a:cubicBezTo>
                    <a:pt x="1129906" y="3466364"/>
                    <a:pt x="3240205" y="3467634"/>
                    <a:pt x="3429591" y="3468904"/>
                  </a:cubicBezTo>
                  <a:cubicBezTo>
                    <a:pt x="3456646" y="3468904"/>
                    <a:pt x="3483701" y="3468904"/>
                    <a:pt x="3510756" y="3468904"/>
                  </a:cubicBezTo>
                  <a:cubicBezTo>
                    <a:pt x="3640621" y="3468904"/>
                    <a:pt x="3775897" y="3467634"/>
                    <a:pt x="3905761" y="3467634"/>
                  </a:cubicBezTo>
                  <a:cubicBezTo>
                    <a:pt x="4057270" y="3467634"/>
                    <a:pt x="4203367" y="3468904"/>
                    <a:pt x="4354876" y="3468904"/>
                  </a:cubicBezTo>
                  <a:cubicBezTo>
                    <a:pt x="4576728" y="3468904"/>
                    <a:pt x="4803991" y="3468904"/>
                    <a:pt x="5025843" y="3468904"/>
                  </a:cubicBezTo>
                  <a:cubicBezTo>
                    <a:pt x="5231462" y="3468904"/>
                    <a:pt x="5437081" y="3470174"/>
                    <a:pt x="5642700" y="3471444"/>
                  </a:cubicBezTo>
                  <a:cubicBezTo>
                    <a:pt x="5734687" y="3471444"/>
                    <a:pt x="5832086" y="3472714"/>
                    <a:pt x="5924073" y="3472714"/>
                  </a:cubicBezTo>
                  <a:cubicBezTo>
                    <a:pt x="6221680" y="3471444"/>
                    <a:pt x="6513874" y="3465094"/>
                    <a:pt x="6791779" y="3465094"/>
                  </a:cubicBezTo>
                  <a:cubicBezTo>
                    <a:pt x="6795589" y="3465094"/>
                    <a:pt x="6800669" y="3462554"/>
                    <a:pt x="6804479" y="3460014"/>
                  </a:cubicBezTo>
                  <a:cubicBezTo>
                    <a:pt x="6809559" y="3456204"/>
                    <a:pt x="6812099" y="3449854"/>
                    <a:pt x="6814639" y="3447314"/>
                  </a:cubicBezTo>
                  <a:cubicBezTo>
                    <a:pt x="6815909" y="3374034"/>
                    <a:pt x="6817179" y="3261084"/>
                    <a:pt x="6818449" y="3148133"/>
                  </a:cubicBezTo>
                  <a:cubicBezTo>
                    <a:pt x="6819719" y="2973329"/>
                    <a:pt x="6829879" y="1295208"/>
                    <a:pt x="6831149" y="1120404"/>
                  </a:cubicBezTo>
                  <a:cubicBezTo>
                    <a:pt x="6831149" y="1015521"/>
                    <a:pt x="6832419" y="910639"/>
                    <a:pt x="6833689" y="805756"/>
                  </a:cubicBezTo>
                  <a:cubicBezTo>
                    <a:pt x="6834959" y="692806"/>
                    <a:pt x="6836229" y="579856"/>
                    <a:pt x="6838769" y="466905"/>
                  </a:cubicBezTo>
                  <a:cubicBezTo>
                    <a:pt x="6840039" y="399673"/>
                    <a:pt x="6840039" y="329751"/>
                    <a:pt x="6845119" y="262519"/>
                  </a:cubicBezTo>
                  <a:cubicBezTo>
                    <a:pt x="6850199" y="181840"/>
                    <a:pt x="6852739" y="103850"/>
                    <a:pt x="6851469" y="44450"/>
                  </a:cubicBezTo>
                  <a:cubicBezTo>
                    <a:pt x="6851469" y="38100"/>
                    <a:pt x="6847659" y="30480"/>
                    <a:pt x="6841309" y="27940"/>
                  </a:cubicBezTo>
                  <a:close/>
                </a:path>
              </a:pathLst>
            </a:custGeom>
            <a:solidFill>
              <a:srgbClr val="EDEDED"/>
            </a:solidFill>
          </p:spPr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730152" y="2455819"/>
          <a:ext cx="14991123" cy="6033561"/>
        </p:xfrm>
        <a:graphic>
          <a:graphicData uri="http://schemas.openxmlformats.org/drawingml/2006/table">
            <a:tbl>
              <a:tblPr/>
              <a:tblGrid>
                <a:gridCol w="2139854"/>
                <a:gridCol w="3290791"/>
                <a:gridCol w="5141317"/>
                <a:gridCol w="4419161"/>
              </a:tblGrid>
              <a:tr h="111192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000000"/>
                          </a:solidFill>
                          <a:latin typeface="Noto Serif Display Bold"/>
                          <a:ea typeface="Noto Serif Display Bold"/>
                          <a:cs typeface="Noto Serif Display Bold"/>
                          <a:sym typeface="Noto Serif Display Bold"/>
                        </a:rPr>
                        <a:t>Cấu tạo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000000"/>
                          </a:solidFill>
                          <a:latin typeface="Noto Serif Display Bold"/>
                          <a:ea typeface="Noto Serif Display Bold"/>
                          <a:cs typeface="Noto Serif Display Bold"/>
                          <a:sym typeface="Noto Serif Display Bold"/>
                        </a:rPr>
                        <a:t>Đường dẫn truyền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000000"/>
                          </a:solidFill>
                          <a:latin typeface="Noto Serif Display Bold"/>
                          <a:ea typeface="Noto Serif Display Bold"/>
                          <a:cs typeface="Noto Serif Display Bold"/>
                          <a:sym typeface="Noto Serif Display Bold"/>
                        </a:rPr>
                        <a:t>Chức năng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788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000000"/>
                          </a:solidFill>
                          <a:latin typeface="Noto Serif Display Bold"/>
                          <a:ea typeface="Noto Serif Display Bold"/>
                          <a:cs typeface="Noto Serif Display Bold"/>
                          <a:sym typeface="Noto Serif Display Bold"/>
                        </a:rPr>
                        <a:t>Dây V (Sinh ba)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Noto Serif Display"/>
                          <a:ea typeface="Noto Serif Display"/>
                          <a:cs typeface="Noto Serif Display"/>
                          <a:sym typeface="Noto Serif Display"/>
                        </a:rPr>
                        <a:t> Dây hỗn hợp (cảm giác &amp; vận động).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Noto Serif Display"/>
                          <a:ea typeface="Noto Serif Display"/>
                          <a:cs typeface="Noto Serif Display"/>
                          <a:sym typeface="Noto Serif Display"/>
                        </a:rPr>
                        <a:t>Cầu não → lỗ sọ → mắt, hàm trên, hàm dưới.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Noto Serif Display"/>
                          <a:ea typeface="Noto Serif Display"/>
                          <a:cs typeface="Noto Serif Display"/>
                          <a:sym typeface="Noto Serif Display"/>
                        </a:rPr>
                        <a:t>Cảm giác vùng mặt, đầu, răng; vận động cơ nhai.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9376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000000"/>
                          </a:solidFill>
                          <a:latin typeface="Noto Serif Display Bold"/>
                          <a:ea typeface="Noto Serif Display Bold"/>
                          <a:cs typeface="Noto Serif Display Bold"/>
                          <a:sym typeface="Noto Serif Display Bold"/>
                        </a:rPr>
                        <a:t>Dây VII (Mặt)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Noto Serif Display"/>
                          <a:ea typeface="Noto Serif Display"/>
                          <a:cs typeface="Noto Serif Display"/>
                          <a:sym typeface="Noto Serif Display"/>
                        </a:rPr>
                        <a:t> Dây hỗn hợp (cảm giác &amp; vận động).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Noto Serif Display"/>
                          <a:ea typeface="Noto Serif Display"/>
                          <a:cs typeface="Noto Serif Display"/>
                          <a:sym typeface="Noto Serif Display"/>
                        </a:rPr>
                        <a:t>Cầu não → ống tai trong → tuyến mang tai → cơ mặt.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Noto Serif Display"/>
                          <a:ea typeface="Noto Serif Display"/>
                          <a:cs typeface="Noto Serif Display"/>
                          <a:sym typeface="Noto Serif Display"/>
                        </a:rPr>
                        <a:t>Biểu cảm mặt, vị giác 2/3 trước lưỡi, tiết nước bọt &amp; nước mắt.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2233713" y="1386364"/>
            <a:ext cx="13820575" cy="867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69"/>
              </a:lnSpc>
            </a:pPr>
            <a:r>
              <a:rPr lang="en-US" b="true" sz="6999" spc="-69">
                <a:solidFill>
                  <a:srgbClr val="A2272C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2. 12 đôi dây thần kinh sọ não.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602803" y="9399762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555555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10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18230" y="9415954"/>
            <a:ext cx="6414968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Các dây thần kinh hỗn hợp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8B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4658" y="-56723"/>
            <a:ext cx="20763012" cy="10400446"/>
            <a:chOff x="0" y="0"/>
            <a:chExt cx="27684017" cy="13867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50421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8" y="0"/>
                  </a:lnTo>
                  <a:lnTo>
                    <a:pt x="13842008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842008" y="0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9" y="0"/>
                  </a:lnTo>
                  <a:lnTo>
                    <a:pt x="13842009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57275"/>
            <a:ext cx="16230600" cy="8229600"/>
            <a:chOff x="0" y="0"/>
            <a:chExt cx="6851469" cy="34739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-1270"/>
              <a:ext cx="6852739" cy="3472714"/>
            </a:xfrm>
            <a:custGeom>
              <a:avLst/>
              <a:gdLst/>
              <a:ahLst/>
              <a:cxnLst/>
              <a:rect r="r" b="b" t="t" l="l"/>
              <a:pathLst>
                <a:path h="3472714" w="6852739">
                  <a:moveTo>
                    <a:pt x="6841309" y="27940"/>
                  </a:moveTo>
                  <a:cubicBezTo>
                    <a:pt x="6832419" y="24130"/>
                    <a:pt x="6823529" y="21590"/>
                    <a:pt x="6814639" y="21590"/>
                  </a:cubicBezTo>
                  <a:cubicBezTo>
                    <a:pt x="6787969" y="20320"/>
                    <a:pt x="6687027" y="20320"/>
                    <a:pt x="6573396" y="17780"/>
                  </a:cubicBezTo>
                  <a:cubicBezTo>
                    <a:pt x="6313667" y="12700"/>
                    <a:pt x="6059349" y="6350"/>
                    <a:pt x="5799620" y="3810"/>
                  </a:cubicBezTo>
                  <a:cubicBezTo>
                    <a:pt x="5588590" y="1270"/>
                    <a:pt x="5382971" y="3810"/>
                    <a:pt x="5171941" y="2540"/>
                  </a:cubicBezTo>
                  <a:cubicBezTo>
                    <a:pt x="5079953" y="2540"/>
                    <a:pt x="4987966" y="0"/>
                    <a:pt x="4895979" y="2540"/>
                  </a:cubicBezTo>
                  <a:cubicBezTo>
                    <a:pt x="4674127" y="10160"/>
                    <a:pt x="4452275" y="11430"/>
                    <a:pt x="4225012" y="8890"/>
                  </a:cubicBezTo>
                  <a:cubicBezTo>
                    <a:pt x="4111380" y="7620"/>
                    <a:pt x="3997749" y="7620"/>
                    <a:pt x="3884117" y="7620"/>
                  </a:cubicBezTo>
                  <a:cubicBezTo>
                    <a:pt x="3678498" y="7620"/>
                    <a:pt x="3472879" y="7620"/>
                    <a:pt x="3267261" y="6350"/>
                  </a:cubicBezTo>
                  <a:cubicBezTo>
                    <a:pt x="3050820" y="5080"/>
                    <a:pt x="918876" y="2540"/>
                    <a:pt x="707846" y="1270"/>
                  </a:cubicBezTo>
                  <a:cubicBezTo>
                    <a:pt x="534693" y="0"/>
                    <a:pt x="366952" y="1270"/>
                    <a:pt x="193799" y="1270"/>
                  </a:cubicBezTo>
                  <a:cubicBezTo>
                    <a:pt x="74756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76461"/>
                    <a:pt x="16510" y="329751"/>
                    <a:pt x="17780" y="480352"/>
                  </a:cubicBezTo>
                  <a:cubicBezTo>
                    <a:pt x="19050" y="633642"/>
                    <a:pt x="17780" y="786931"/>
                    <a:pt x="16510" y="942911"/>
                  </a:cubicBezTo>
                  <a:cubicBezTo>
                    <a:pt x="15240" y="1101579"/>
                    <a:pt x="2540" y="2766254"/>
                    <a:pt x="2540" y="2924922"/>
                  </a:cubicBezTo>
                  <a:cubicBezTo>
                    <a:pt x="2540" y="3080901"/>
                    <a:pt x="1270" y="3236880"/>
                    <a:pt x="0" y="3392859"/>
                  </a:cubicBezTo>
                  <a:cubicBezTo>
                    <a:pt x="0" y="3418104"/>
                    <a:pt x="3810" y="3428264"/>
                    <a:pt x="15240" y="3433344"/>
                  </a:cubicBezTo>
                  <a:cubicBezTo>
                    <a:pt x="22860" y="3437154"/>
                    <a:pt x="31750" y="3439694"/>
                    <a:pt x="40640" y="3440964"/>
                  </a:cubicBezTo>
                  <a:cubicBezTo>
                    <a:pt x="188388" y="3446044"/>
                    <a:pt x="394007" y="3449854"/>
                    <a:pt x="599625" y="3454934"/>
                  </a:cubicBezTo>
                  <a:cubicBezTo>
                    <a:pt x="713257" y="3457474"/>
                    <a:pt x="826888" y="3462554"/>
                    <a:pt x="940520" y="3463824"/>
                  </a:cubicBezTo>
                  <a:cubicBezTo>
                    <a:pt x="1129906" y="3466364"/>
                    <a:pt x="3240205" y="3467634"/>
                    <a:pt x="3429591" y="3468904"/>
                  </a:cubicBezTo>
                  <a:cubicBezTo>
                    <a:pt x="3456646" y="3468904"/>
                    <a:pt x="3483701" y="3468904"/>
                    <a:pt x="3510756" y="3468904"/>
                  </a:cubicBezTo>
                  <a:cubicBezTo>
                    <a:pt x="3640621" y="3468904"/>
                    <a:pt x="3775897" y="3467634"/>
                    <a:pt x="3905761" y="3467634"/>
                  </a:cubicBezTo>
                  <a:cubicBezTo>
                    <a:pt x="4057270" y="3467634"/>
                    <a:pt x="4203367" y="3468904"/>
                    <a:pt x="4354876" y="3468904"/>
                  </a:cubicBezTo>
                  <a:cubicBezTo>
                    <a:pt x="4576728" y="3468904"/>
                    <a:pt x="4803991" y="3468904"/>
                    <a:pt x="5025843" y="3468904"/>
                  </a:cubicBezTo>
                  <a:cubicBezTo>
                    <a:pt x="5231462" y="3468904"/>
                    <a:pt x="5437081" y="3470174"/>
                    <a:pt x="5642700" y="3471444"/>
                  </a:cubicBezTo>
                  <a:cubicBezTo>
                    <a:pt x="5734687" y="3471444"/>
                    <a:pt x="5832086" y="3472714"/>
                    <a:pt x="5924073" y="3472714"/>
                  </a:cubicBezTo>
                  <a:cubicBezTo>
                    <a:pt x="6221680" y="3471444"/>
                    <a:pt x="6513874" y="3465094"/>
                    <a:pt x="6791779" y="3465094"/>
                  </a:cubicBezTo>
                  <a:cubicBezTo>
                    <a:pt x="6795589" y="3465094"/>
                    <a:pt x="6800669" y="3462554"/>
                    <a:pt x="6804479" y="3460014"/>
                  </a:cubicBezTo>
                  <a:cubicBezTo>
                    <a:pt x="6809559" y="3456204"/>
                    <a:pt x="6812099" y="3449854"/>
                    <a:pt x="6814639" y="3447314"/>
                  </a:cubicBezTo>
                  <a:cubicBezTo>
                    <a:pt x="6815909" y="3374034"/>
                    <a:pt x="6817179" y="3261084"/>
                    <a:pt x="6818449" y="3148133"/>
                  </a:cubicBezTo>
                  <a:cubicBezTo>
                    <a:pt x="6819719" y="2973329"/>
                    <a:pt x="6829879" y="1295208"/>
                    <a:pt x="6831149" y="1120404"/>
                  </a:cubicBezTo>
                  <a:cubicBezTo>
                    <a:pt x="6831149" y="1015521"/>
                    <a:pt x="6832419" y="910639"/>
                    <a:pt x="6833689" y="805756"/>
                  </a:cubicBezTo>
                  <a:cubicBezTo>
                    <a:pt x="6834959" y="692806"/>
                    <a:pt x="6836229" y="579856"/>
                    <a:pt x="6838769" y="466905"/>
                  </a:cubicBezTo>
                  <a:cubicBezTo>
                    <a:pt x="6840039" y="399673"/>
                    <a:pt x="6840039" y="329751"/>
                    <a:pt x="6845119" y="262519"/>
                  </a:cubicBezTo>
                  <a:cubicBezTo>
                    <a:pt x="6850199" y="181840"/>
                    <a:pt x="6852739" y="103850"/>
                    <a:pt x="6851469" y="44450"/>
                  </a:cubicBezTo>
                  <a:cubicBezTo>
                    <a:pt x="6851469" y="38100"/>
                    <a:pt x="6847659" y="30480"/>
                    <a:pt x="6841309" y="27940"/>
                  </a:cubicBezTo>
                  <a:close/>
                </a:path>
              </a:pathLst>
            </a:custGeom>
            <a:solidFill>
              <a:srgbClr val="EDEDED"/>
            </a:solidFill>
          </p:spPr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730152" y="2455819"/>
          <a:ext cx="14991123" cy="6033561"/>
        </p:xfrm>
        <a:graphic>
          <a:graphicData uri="http://schemas.openxmlformats.org/drawingml/2006/table">
            <a:tbl>
              <a:tblPr/>
              <a:tblGrid>
                <a:gridCol w="2139854"/>
                <a:gridCol w="3290791"/>
                <a:gridCol w="5141317"/>
                <a:gridCol w="4419161"/>
              </a:tblGrid>
              <a:tr h="111192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000000"/>
                          </a:solidFill>
                          <a:latin typeface="Noto Serif Display Bold"/>
                          <a:ea typeface="Noto Serif Display Bold"/>
                          <a:cs typeface="Noto Serif Display Bold"/>
                          <a:sym typeface="Noto Serif Display Bold"/>
                        </a:rPr>
                        <a:t>Cấu tạo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000000"/>
                          </a:solidFill>
                          <a:latin typeface="Noto Serif Display Bold"/>
                          <a:ea typeface="Noto Serif Display Bold"/>
                          <a:cs typeface="Noto Serif Display Bold"/>
                          <a:sym typeface="Noto Serif Display Bold"/>
                        </a:rPr>
                        <a:t>Đường dẫn truyền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000000"/>
                          </a:solidFill>
                          <a:latin typeface="Noto Serif Display Bold"/>
                          <a:ea typeface="Noto Serif Display Bold"/>
                          <a:cs typeface="Noto Serif Display Bold"/>
                          <a:sym typeface="Noto Serif Display Bold"/>
                        </a:rPr>
                        <a:t>Chức năng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788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000000"/>
                          </a:solidFill>
                          <a:latin typeface="Noto Serif Display Bold"/>
                          <a:ea typeface="Noto Serif Display Bold"/>
                          <a:cs typeface="Noto Serif Display Bold"/>
                          <a:sym typeface="Noto Serif Display Bold"/>
                        </a:rPr>
                        <a:t>Dây IX (Thiệt hầu)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Noto Serif Display"/>
                          <a:ea typeface="Noto Serif Display"/>
                          <a:cs typeface="Noto Serif Display"/>
                          <a:sym typeface="Noto Serif Display"/>
                        </a:rPr>
                        <a:t> Dây hỗn hợp (cảm giác &amp; vận động).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Noto Serif Display"/>
                          <a:ea typeface="Noto Serif Display"/>
                          <a:cs typeface="Noto Serif Display"/>
                          <a:sym typeface="Noto Serif Display"/>
                        </a:rPr>
                        <a:t>Hành não → hầu → lưỡi → tuyến mang tai.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Noto Serif Display"/>
                          <a:ea typeface="Noto Serif Display"/>
                          <a:cs typeface="Noto Serif Display"/>
                          <a:sym typeface="Noto Serif Display"/>
                        </a:rPr>
                        <a:t>Vị giác 1/3 sau lưỡi, cảm giác họng, tiết nước bọt, nuốt.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9376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000000"/>
                          </a:solidFill>
                          <a:latin typeface="Noto Serif Display Bold"/>
                          <a:ea typeface="Noto Serif Display Bold"/>
                          <a:cs typeface="Noto Serif Display Bold"/>
                          <a:sym typeface="Noto Serif Display Bold"/>
                        </a:rPr>
                        <a:t>Dây X (Lang thang)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Noto Serif Display"/>
                          <a:ea typeface="Noto Serif Display"/>
                          <a:cs typeface="Noto Serif Display"/>
                          <a:sym typeface="Noto Serif Display"/>
                        </a:rPr>
                        <a:t> Dây hỗn hợp (cảm giác &amp; vận động).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Noto Serif Display"/>
                          <a:ea typeface="Noto Serif Display"/>
                          <a:cs typeface="Noto Serif Display"/>
                          <a:sym typeface="Noto Serif Display"/>
                        </a:rPr>
                        <a:t>Hành não → cổ → ngực → ổ bụng (tới tim, phổi, dạ dày, ruột...).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Noto Serif Display"/>
                          <a:ea typeface="Noto Serif Display"/>
                          <a:cs typeface="Noto Serif Display"/>
                          <a:sym typeface="Noto Serif Display"/>
                        </a:rPr>
                        <a:t>Điều hòa hoạt động nội tạng, nuốt, nói, cảm giác tạng.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2233713" y="1386364"/>
            <a:ext cx="13820575" cy="867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69"/>
              </a:lnSpc>
            </a:pPr>
            <a:r>
              <a:rPr lang="en-US" b="true" sz="6999" spc="-69">
                <a:solidFill>
                  <a:srgbClr val="A2272C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2. 12 đôi dây thần kinh sọ não.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602803" y="9399762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555555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11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18230" y="9415954"/>
            <a:ext cx="6414968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Các dây thần kinh hỗn hợp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1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4658" y="-56723"/>
            <a:ext cx="20763012" cy="10400446"/>
            <a:chOff x="0" y="0"/>
            <a:chExt cx="27684017" cy="13867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50421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8" y="0"/>
                  </a:lnTo>
                  <a:lnTo>
                    <a:pt x="13842008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842008" y="0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9" y="0"/>
                  </a:lnTo>
                  <a:lnTo>
                    <a:pt x="13842009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-926790">
            <a:off x="-1511868" y="1767696"/>
            <a:ext cx="4951284" cy="3582929"/>
          </a:xfrm>
          <a:custGeom>
            <a:avLst/>
            <a:gdLst/>
            <a:ahLst/>
            <a:cxnLst/>
            <a:rect r="r" b="b" t="t" l="l"/>
            <a:pathLst>
              <a:path h="3582929" w="4951284">
                <a:moveTo>
                  <a:pt x="0" y="0"/>
                </a:moveTo>
                <a:lnTo>
                  <a:pt x="4951284" y="0"/>
                </a:lnTo>
                <a:lnTo>
                  <a:pt x="4951284" y="3582929"/>
                </a:lnTo>
                <a:lnTo>
                  <a:pt x="0" y="35829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809845">
            <a:off x="12390212" y="7876784"/>
            <a:ext cx="1421939" cy="2313807"/>
          </a:xfrm>
          <a:custGeom>
            <a:avLst/>
            <a:gdLst/>
            <a:ahLst/>
            <a:cxnLst/>
            <a:rect r="r" b="b" t="t" l="l"/>
            <a:pathLst>
              <a:path h="2313807" w="1421939">
                <a:moveTo>
                  <a:pt x="0" y="0"/>
                </a:moveTo>
                <a:lnTo>
                  <a:pt x="1421939" y="0"/>
                </a:lnTo>
                <a:lnTo>
                  <a:pt x="1421939" y="2313807"/>
                </a:lnTo>
                <a:lnTo>
                  <a:pt x="0" y="23138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434729">
            <a:off x="349751" y="-351383"/>
            <a:ext cx="1982662" cy="1687065"/>
          </a:xfrm>
          <a:custGeom>
            <a:avLst/>
            <a:gdLst/>
            <a:ahLst/>
            <a:cxnLst/>
            <a:rect r="r" b="b" t="t" l="l"/>
            <a:pathLst>
              <a:path h="1687065" w="1982662">
                <a:moveTo>
                  <a:pt x="0" y="0"/>
                </a:moveTo>
                <a:lnTo>
                  <a:pt x="1982663" y="0"/>
                </a:lnTo>
                <a:lnTo>
                  <a:pt x="1982663" y="1687066"/>
                </a:lnTo>
                <a:lnTo>
                  <a:pt x="0" y="16870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946191">
            <a:off x="15536132" y="2718063"/>
            <a:ext cx="1704989" cy="2220830"/>
          </a:xfrm>
          <a:custGeom>
            <a:avLst/>
            <a:gdLst/>
            <a:ahLst/>
            <a:cxnLst/>
            <a:rect r="r" b="b" t="t" l="l"/>
            <a:pathLst>
              <a:path h="2220830" w="1704989">
                <a:moveTo>
                  <a:pt x="0" y="0"/>
                </a:moveTo>
                <a:lnTo>
                  <a:pt x="1704989" y="0"/>
                </a:lnTo>
                <a:lnTo>
                  <a:pt x="1704989" y="2220830"/>
                </a:lnTo>
                <a:lnTo>
                  <a:pt x="0" y="22208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23589" t="0" r="0" b="-79771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3531975">
            <a:off x="17365098" y="2318026"/>
            <a:ext cx="1408645" cy="1321935"/>
          </a:xfrm>
          <a:custGeom>
            <a:avLst/>
            <a:gdLst/>
            <a:ahLst/>
            <a:cxnLst/>
            <a:rect r="r" b="b" t="t" l="l"/>
            <a:pathLst>
              <a:path h="1321935" w="1408645">
                <a:moveTo>
                  <a:pt x="0" y="0"/>
                </a:moveTo>
                <a:lnTo>
                  <a:pt x="1408644" y="0"/>
                </a:lnTo>
                <a:lnTo>
                  <a:pt x="1408644" y="1321936"/>
                </a:lnTo>
                <a:lnTo>
                  <a:pt x="0" y="13219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68858" t="-92879" r="-122806" b="-109134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2035113">
            <a:off x="16526017" y="4482663"/>
            <a:ext cx="1875298" cy="1064306"/>
          </a:xfrm>
          <a:custGeom>
            <a:avLst/>
            <a:gdLst/>
            <a:ahLst/>
            <a:cxnLst/>
            <a:rect r="r" b="b" t="t" l="l"/>
            <a:pathLst>
              <a:path h="1064306" w="1875298">
                <a:moveTo>
                  <a:pt x="0" y="0"/>
                </a:moveTo>
                <a:lnTo>
                  <a:pt x="1875298" y="0"/>
                </a:lnTo>
                <a:lnTo>
                  <a:pt x="1875298" y="1064306"/>
                </a:lnTo>
                <a:lnTo>
                  <a:pt x="0" y="10643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65893" t="0" r="-128308" b="-27512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352779" y="9258300"/>
            <a:ext cx="1274852" cy="1469930"/>
          </a:xfrm>
          <a:custGeom>
            <a:avLst/>
            <a:gdLst/>
            <a:ahLst/>
            <a:cxnLst/>
            <a:rect r="r" b="b" t="t" l="l"/>
            <a:pathLst>
              <a:path h="1469930" w="1274852">
                <a:moveTo>
                  <a:pt x="0" y="0"/>
                </a:moveTo>
                <a:lnTo>
                  <a:pt x="1274852" y="0"/>
                </a:lnTo>
                <a:lnTo>
                  <a:pt x="1274852" y="1469930"/>
                </a:lnTo>
                <a:lnTo>
                  <a:pt x="0" y="1469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12551" t="-12414" r="0" b="-83742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6029703">
            <a:off x="2717404" y="5262029"/>
            <a:ext cx="1622692" cy="1346362"/>
          </a:xfrm>
          <a:custGeom>
            <a:avLst/>
            <a:gdLst/>
            <a:ahLst/>
            <a:cxnLst/>
            <a:rect r="r" b="b" t="t" l="l"/>
            <a:pathLst>
              <a:path h="1346362" w="1622692">
                <a:moveTo>
                  <a:pt x="0" y="0"/>
                </a:moveTo>
                <a:lnTo>
                  <a:pt x="1622692" y="0"/>
                </a:lnTo>
                <a:lnTo>
                  <a:pt x="1622692" y="1346361"/>
                </a:lnTo>
                <a:lnTo>
                  <a:pt x="0" y="13463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73076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-6531379">
            <a:off x="16079481" y="-392979"/>
            <a:ext cx="2768371" cy="2541868"/>
          </a:xfrm>
          <a:custGeom>
            <a:avLst/>
            <a:gdLst/>
            <a:ahLst/>
            <a:cxnLst/>
            <a:rect r="r" b="b" t="t" l="l"/>
            <a:pathLst>
              <a:path h="2541868" w="2768371">
                <a:moveTo>
                  <a:pt x="2768371" y="0"/>
                </a:moveTo>
                <a:lnTo>
                  <a:pt x="0" y="0"/>
                </a:lnTo>
                <a:lnTo>
                  <a:pt x="0" y="2541868"/>
                </a:lnTo>
                <a:lnTo>
                  <a:pt x="2768371" y="2541868"/>
                </a:lnTo>
                <a:lnTo>
                  <a:pt x="2768371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252379" y="-404544"/>
            <a:ext cx="10859234" cy="10958860"/>
          </a:xfrm>
          <a:custGeom>
            <a:avLst/>
            <a:gdLst/>
            <a:ahLst/>
            <a:cxnLst/>
            <a:rect r="r" b="b" t="t" l="l"/>
            <a:pathLst>
              <a:path h="10958860" w="10859234">
                <a:moveTo>
                  <a:pt x="0" y="0"/>
                </a:moveTo>
                <a:lnTo>
                  <a:pt x="10859234" y="0"/>
                </a:lnTo>
                <a:lnTo>
                  <a:pt x="10859234" y="10958860"/>
                </a:lnTo>
                <a:lnTo>
                  <a:pt x="0" y="1095886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727857">
            <a:off x="14230461" y="-1658645"/>
            <a:ext cx="1300584" cy="5073200"/>
          </a:xfrm>
          <a:custGeom>
            <a:avLst/>
            <a:gdLst/>
            <a:ahLst/>
            <a:cxnLst/>
            <a:rect r="r" b="b" t="t" l="l"/>
            <a:pathLst>
              <a:path h="5073200" w="1300584">
                <a:moveTo>
                  <a:pt x="0" y="0"/>
                </a:moveTo>
                <a:lnTo>
                  <a:pt x="1300584" y="0"/>
                </a:lnTo>
                <a:lnTo>
                  <a:pt x="1300584" y="5073201"/>
                </a:lnTo>
                <a:lnTo>
                  <a:pt x="0" y="507320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2999881">
            <a:off x="-468324" y="5104997"/>
            <a:ext cx="2414067" cy="2598311"/>
          </a:xfrm>
          <a:custGeom>
            <a:avLst/>
            <a:gdLst/>
            <a:ahLst/>
            <a:cxnLst/>
            <a:rect r="r" b="b" t="t" l="l"/>
            <a:pathLst>
              <a:path h="2598311" w="2414067">
                <a:moveTo>
                  <a:pt x="0" y="0"/>
                </a:moveTo>
                <a:lnTo>
                  <a:pt x="2414067" y="0"/>
                </a:lnTo>
                <a:lnTo>
                  <a:pt x="2414067" y="2598311"/>
                </a:lnTo>
                <a:lnTo>
                  <a:pt x="0" y="259831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10730274">
            <a:off x="869978" y="-11529552"/>
            <a:ext cx="5626384" cy="13002147"/>
          </a:xfrm>
          <a:custGeom>
            <a:avLst/>
            <a:gdLst/>
            <a:ahLst/>
            <a:cxnLst/>
            <a:rect r="r" b="b" t="t" l="l"/>
            <a:pathLst>
              <a:path h="13002147" w="5626384">
                <a:moveTo>
                  <a:pt x="0" y="0"/>
                </a:moveTo>
                <a:lnTo>
                  <a:pt x="5626384" y="0"/>
                </a:lnTo>
                <a:lnTo>
                  <a:pt x="5626384" y="13002147"/>
                </a:lnTo>
                <a:lnTo>
                  <a:pt x="0" y="1300214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8672599">
            <a:off x="13344644" y="7035132"/>
            <a:ext cx="5626384" cy="13002147"/>
          </a:xfrm>
          <a:custGeom>
            <a:avLst/>
            <a:gdLst/>
            <a:ahLst/>
            <a:cxnLst/>
            <a:rect r="r" b="b" t="t" l="l"/>
            <a:pathLst>
              <a:path h="13002147" w="5626384">
                <a:moveTo>
                  <a:pt x="0" y="0"/>
                </a:moveTo>
                <a:lnTo>
                  <a:pt x="5626383" y="0"/>
                </a:lnTo>
                <a:lnTo>
                  <a:pt x="5626383" y="13002147"/>
                </a:lnTo>
                <a:lnTo>
                  <a:pt x="0" y="1300214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842625">
            <a:off x="15370375" y="-732108"/>
            <a:ext cx="1316476" cy="3287697"/>
          </a:xfrm>
          <a:custGeom>
            <a:avLst/>
            <a:gdLst/>
            <a:ahLst/>
            <a:cxnLst/>
            <a:rect r="r" b="b" t="t" l="l"/>
            <a:pathLst>
              <a:path h="3287697" w="1316476">
                <a:moveTo>
                  <a:pt x="0" y="0"/>
                </a:moveTo>
                <a:lnTo>
                  <a:pt x="1316476" y="0"/>
                </a:lnTo>
                <a:lnTo>
                  <a:pt x="1316476" y="3287697"/>
                </a:lnTo>
                <a:lnTo>
                  <a:pt x="0" y="328769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-3216" t="-112055" r="-324165" b="-183423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3857920">
            <a:off x="-565313" y="3747308"/>
            <a:ext cx="1316476" cy="3287697"/>
          </a:xfrm>
          <a:custGeom>
            <a:avLst/>
            <a:gdLst/>
            <a:ahLst/>
            <a:cxnLst/>
            <a:rect r="r" b="b" t="t" l="l"/>
            <a:pathLst>
              <a:path h="3287697" w="1316476">
                <a:moveTo>
                  <a:pt x="0" y="0"/>
                </a:moveTo>
                <a:lnTo>
                  <a:pt x="1316476" y="0"/>
                </a:lnTo>
                <a:lnTo>
                  <a:pt x="1316476" y="3287697"/>
                </a:lnTo>
                <a:lnTo>
                  <a:pt x="0" y="328769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-327382" t="-127893" r="0" b="-167584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832289">
            <a:off x="14001237" y="4424110"/>
            <a:ext cx="1386924" cy="1301551"/>
          </a:xfrm>
          <a:custGeom>
            <a:avLst/>
            <a:gdLst/>
            <a:ahLst/>
            <a:cxnLst/>
            <a:rect r="r" b="b" t="t" l="l"/>
            <a:pathLst>
              <a:path h="1301551" w="1386924">
                <a:moveTo>
                  <a:pt x="0" y="0"/>
                </a:moveTo>
                <a:lnTo>
                  <a:pt x="1386923" y="0"/>
                </a:lnTo>
                <a:lnTo>
                  <a:pt x="1386923" y="1301551"/>
                </a:lnTo>
                <a:lnTo>
                  <a:pt x="0" y="13015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68858" t="-92879" r="-122806" b="-109134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386442" y="6404152"/>
            <a:ext cx="4405595" cy="4317483"/>
          </a:xfrm>
          <a:custGeom>
            <a:avLst/>
            <a:gdLst/>
            <a:ahLst/>
            <a:cxnLst/>
            <a:rect r="r" b="b" t="t" l="l"/>
            <a:pathLst>
              <a:path h="4317483" w="4405595">
                <a:moveTo>
                  <a:pt x="0" y="0"/>
                </a:moveTo>
                <a:lnTo>
                  <a:pt x="4405595" y="0"/>
                </a:lnTo>
                <a:lnTo>
                  <a:pt x="4405595" y="4317483"/>
                </a:lnTo>
                <a:lnTo>
                  <a:pt x="0" y="431748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4880753" y="4686119"/>
            <a:ext cx="2448199" cy="5657604"/>
          </a:xfrm>
          <a:custGeom>
            <a:avLst/>
            <a:gdLst/>
            <a:ahLst/>
            <a:cxnLst/>
            <a:rect r="r" b="b" t="t" l="l"/>
            <a:pathLst>
              <a:path h="5657604" w="2448199">
                <a:moveTo>
                  <a:pt x="0" y="0"/>
                </a:moveTo>
                <a:lnTo>
                  <a:pt x="2448199" y="0"/>
                </a:lnTo>
                <a:lnTo>
                  <a:pt x="2448199" y="5657604"/>
                </a:lnTo>
                <a:lnTo>
                  <a:pt x="0" y="5657604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9139238" y="4819967"/>
            <a:ext cx="952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7024229" y="266900"/>
            <a:ext cx="3315533" cy="1035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39"/>
              </a:lnSpc>
            </a:pPr>
            <a:r>
              <a:rPr lang="en-US" sz="6099" b="true">
                <a:solidFill>
                  <a:srgbClr val="000000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Tổng kết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792037" y="2598615"/>
            <a:ext cx="7545289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63593" indent="-431796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12 đôi dây thần kinh​ não có vai trò quan trọng.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792037" y="4156392"/>
            <a:ext cx="8145347" cy="13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63596" indent="-431798" lvl="1">
              <a:lnSpc>
                <a:spcPts val="5599"/>
              </a:lnSpc>
              <a:buFont typeface="Arial"/>
              <a:buChar char="•"/>
            </a:pPr>
            <a:r>
              <a:rPr lang="en-US" b="true" sz="3999">
                <a:solidFill>
                  <a:srgbClr val="000000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Vận động</a:t>
            </a:r>
            <a:r>
              <a:rPr lang="en-US" sz="3999">
                <a:solidFill>
                  <a:srgbClr val="000000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 cơ và </a:t>
            </a:r>
            <a:r>
              <a:rPr lang="en-US" b="true" sz="3999">
                <a:solidFill>
                  <a:srgbClr val="000000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điều hòa</a:t>
            </a:r>
            <a:r>
              <a:rPr lang="en-US" sz="3999">
                <a:solidFill>
                  <a:srgbClr val="000000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 nội tạng.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792037" y="6255527"/>
            <a:ext cx="8004715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63593" indent="-431796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Là </a:t>
            </a:r>
            <a:r>
              <a:rPr lang="en-US" b="true" sz="3999">
                <a:solidFill>
                  <a:srgbClr val="000000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cầu nối</a:t>
            </a:r>
            <a:r>
              <a:rPr lang="en-US" sz="3999">
                <a:solidFill>
                  <a:srgbClr val="000000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 giao tiếp quan trọng giữa não và cơ thể.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862353" y="8058150"/>
            <a:ext cx="8328382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63593" indent="-431796" lvl="1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Đảm bảo các </a:t>
            </a:r>
            <a:r>
              <a:rPr lang="en-US" b="true" sz="3999">
                <a:solidFill>
                  <a:srgbClr val="000000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giác quan</a:t>
            </a:r>
            <a:r>
              <a:rPr lang="en-US" sz="3999">
                <a:solidFill>
                  <a:srgbClr val="000000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 đặc biệt: nhìn, nghe, ngửi, nếm.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1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4658" y="-56723"/>
            <a:ext cx="20763012" cy="10400446"/>
            <a:chOff x="0" y="0"/>
            <a:chExt cx="27684017" cy="13867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50421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8" y="0"/>
                  </a:lnTo>
                  <a:lnTo>
                    <a:pt x="13842008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842008" y="0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9" y="0"/>
                  </a:lnTo>
                  <a:lnTo>
                    <a:pt x="13842009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1434729">
            <a:off x="349751" y="-351383"/>
            <a:ext cx="1982662" cy="1687065"/>
          </a:xfrm>
          <a:custGeom>
            <a:avLst/>
            <a:gdLst/>
            <a:ahLst/>
            <a:cxnLst/>
            <a:rect r="r" b="b" t="t" l="l"/>
            <a:pathLst>
              <a:path h="1687065" w="1982662">
                <a:moveTo>
                  <a:pt x="0" y="0"/>
                </a:moveTo>
                <a:lnTo>
                  <a:pt x="1982663" y="0"/>
                </a:lnTo>
                <a:lnTo>
                  <a:pt x="1982663" y="1687066"/>
                </a:lnTo>
                <a:lnTo>
                  <a:pt x="0" y="16870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3531975">
            <a:off x="17365098" y="2318026"/>
            <a:ext cx="1408645" cy="1321935"/>
          </a:xfrm>
          <a:custGeom>
            <a:avLst/>
            <a:gdLst/>
            <a:ahLst/>
            <a:cxnLst/>
            <a:rect r="r" b="b" t="t" l="l"/>
            <a:pathLst>
              <a:path h="1321935" w="1408645">
                <a:moveTo>
                  <a:pt x="0" y="0"/>
                </a:moveTo>
                <a:lnTo>
                  <a:pt x="1408644" y="0"/>
                </a:lnTo>
                <a:lnTo>
                  <a:pt x="1408644" y="1321936"/>
                </a:lnTo>
                <a:lnTo>
                  <a:pt x="0" y="13219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68858" t="-92879" r="-122806" b="-109134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6029703">
            <a:off x="2717404" y="5262029"/>
            <a:ext cx="1622692" cy="1346362"/>
          </a:xfrm>
          <a:custGeom>
            <a:avLst/>
            <a:gdLst/>
            <a:ahLst/>
            <a:cxnLst/>
            <a:rect r="r" b="b" t="t" l="l"/>
            <a:pathLst>
              <a:path h="1346362" w="1622692">
                <a:moveTo>
                  <a:pt x="0" y="0"/>
                </a:moveTo>
                <a:lnTo>
                  <a:pt x="1622692" y="0"/>
                </a:lnTo>
                <a:lnTo>
                  <a:pt x="1622692" y="1346361"/>
                </a:lnTo>
                <a:lnTo>
                  <a:pt x="0" y="13463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73076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451324" y="2034375"/>
            <a:ext cx="2836676" cy="2779943"/>
          </a:xfrm>
          <a:custGeom>
            <a:avLst/>
            <a:gdLst/>
            <a:ahLst/>
            <a:cxnLst/>
            <a:rect r="r" b="b" t="t" l="l"/>
            <a:pathLst>
              <a:path h="2779943" w="2836676">
                <a:moveTo>
                  <a:pt x="0" y="0"/>
                </a:moveTo>
                <a:lnTo>
                  <a:pt x="2836676" y="0"/>
                </a:lnTo>
                <a:lnTo>
                  <a:pt x="2836676" y="2779943"/>
                </a:lnTo>
                <a:lnTo>
                  <a:pt x="0" y="277994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035113">
            <a:off x="16526017" y="4482663"/>
            <a:ext cx="1875298" cy="1064306"/>
          </a:xfrm>
          <a:custGeom>
            <a:avLst/>
            <a:gdLst/>
            <a:ahLst/>
            <a:cxnLst/>
            <a:rect r="r" b="b" t="t" l="l"/>
            <a:pathLst>
              <a:path h="1064306" w="1875298">
                <a:moveTo>
                  <a:pt x="0" y="0"/>
                </a:moveTo>
                <a:lnTo>
                  <a:pt x="1875298" y="0"/>
                </a:lnTo>
                <a:lnTo>
                  <a:pt x="1875298" y="1064306"/>
                </a:lnTo>
                <a:lnTo>
                  <a:pt x="0" y="10643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65893" t="0" r="-128308" b="-27512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6531379">
            <a:off x="16079481" y="-392979"/>
            <a:ext cx="2768371" cy="2541868"/>
          </a:xfrm>
          <a:custGeom>
            <a:avLst/>
            <a:gdLst/>
            <a:ahLst/>
            <a:cxnLst/>
            <a:rect r="r" b="b" t="t" l="l"/>
            <a:pathLst>
              <a:path h="2541868" w="2768371">
                <a:moveTo>
                  <a:pt x="2768371" y="0"/>
                </a:moveTo>
                <a:lnTo>
                  <a:pt x="0" y="0"/>
                </a:lnTo>
                <a:lnTo>
                  <a:pt x="0" y="2541868"/>
                </a:lnTo>
                <a:lnTo>
                  <a:pt x="2768371" y="2541868"/>
                </a:lnTo>
                <a:lnTo>
                  <a:pt x="2768371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727857">
            <a:off x="14230461" y="-1658645"/>
            <a:ext cx="1300584" cy="5073200"/>
          </a:xfrm>
          <a:custGeom>
            <a:avLst/>
            <a:gdLst/>
            <a:ahLst/>
            <a:cxnLst/>
            <a:rect r="r" b="b" t="t" l="l"/>
            <a:pathLst>
              <a:path h="5073200" w="1300584">
                <a:moveTo>
                  <a:pt x="0" y="0"/>
                </a:moveTo>
                <a:lnTo>
                  <a:pt x="1300584" y="0"/>
                </a:lnTo>
                <a:lnTo>
                  <a:pt x="1300584" y="5073201"/>
                </a:lnTo>
                <a:lnTo>
                  <a:pt x="0" y="507320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2999881">
            <a:off x="-468324" y="5104997"/>
            <a:ext cx="2414067" cy="2598311"/>
          </a:xfrm>
          <a:custGeom>
            <a:avLst/>
            <a:gdLst/>
            <a:ahLst/>
            <a:cxnLst/>
            <a:rect r="r" b="b" t="t" l="l"/>
            <a:pathLst>
              <a:path h="2598311" w="2414067">
                <a:moveTo>
                  <a:pt x="0" y="0"/>
                </a:moveTo>
                <a:lnTo>
                  <a:pt x="2414067" y="0"/>
                </a:lnTo>
                <a:lnTo>
                  <a:pt x="2414067" y="2598311"/>
                </a:lnTo>
                <a:lnTo>
                  <a:pt x="0" y="259831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0730274">
            <a:off x="869978" y="-11529552"/>
            <a:ext cx="5626384" cy="13002147"/>
          </a:xfrm>
          <a:custGeom>
            <a:avLst/>
            <a:gdLst/>
            <a:ahLst/>
            <a:cxnLst/>
            <a:rect r="r" b="b" t="t" l="l"/>
            <a:pathLst>
              <a:path h="13002147" w="5626384">
                <a:moveTo>
                  <a:pt x="0" y="0"/>
                </a:moveTo>
                <a:lnTo>
                  <a:pt x="5626384" y="0"/>
                </a:lnTo>
                <a:lnTo>
                  <a:pt x="5626384" y="13002147"/>
                </a:lnTo>
                <a:lnTo>
                  <a:pt x="0" y="1300214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8672599">
            <a:off x="13344644" y="7035132"/>
            <a:ext cx="5626384" cy="13002147"/>
          </a:xfrm>
          <a:custGeom>
            <a:avLst/>
            <a:gdLst/>
            <a:ahLst/>
            <a:cxnLst/>
            <a:rect r="r" b="b" t="t" l="l"/>
            <a:pathLst>
              <a:path h="13002147" w="5626384">
                <a:moveTo>
                  <a:pt x="0" y="0"/>
                </a:moveTo>
                <a:lnTo>
                  <a:pt x="5626383" y="0"/>
                </a:lnTo>
                <a:lnTo>
                  <a:pt x="5626383" y="13002147"/>
                </a:lnTo>
                <a:lnTo>
                  <a:pt x="0" y="1300214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842625">
            <a:off x="15370375" y="-732108"/>
            <a:ext cx="1316476" cy="3287697"/>
          </a:xfrm>
          <a:custGeom>
            <a:avLst/>
            <a:gdLst/>
            <a:ahLst/>
            <a:cxnLst/>
            <a:rect r="r" b="b" t="t" l="l"/>
            <a:pathLst>
              <a:path h="3287697" w="1316476">
                <a:moveTo>
                  <a:pt x="0" y="0"/>
                </a:moveTo>
                <a:lnTo>
                  <a:pt x="1316476" y="0"/>
                </a:lnTo>
                <a:lnTo>
                  <a:pt x="1316476" y="3287697"/>
                </a:lnTo>
                <a:lnTo>
                  <a:pt x="0" y="328769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-3216" t="-112055" r="-324165" b="-183423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3857920">
            <a:off x="-565313" y="3747308"/>
            <a:ext cx="1316476" cy="3287697"/>
          </a:xfrm>
          <a:custGeom>
            <a:avLst/>
            <a:gdLst/>
            <a:ahLst/>
            <a:cxnLst/>
            <a:rect r="r" b="b" t="t" l="l"/>
            <a:pathLst>
              <a:path h="3287697" w="1316476">
                <a:moveTo>
                  <a:pt x="0" y="0"/>
                </a:moveTo>
                <a:lnTo>
                  <a:pt x="1316476" y="0"/>
                </a:lnTo>
                <a:lnTo>
                  <a:pt x="1316476" y="3287697"/>
                </a:lnTo>
                <a:lnTo>
                  <a:pt x="0" y="328769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-327382" t="-127893" r="0" b="-167584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832289">
            <a:off x="14001237" y="4424110"/>
            <a:ext cx="1386924" cy="1301551"/>
          </a:xfrm>
          <a:custGeom>
            <a:avLst/>
            <a:gdLst/>
            <a:ahLst/>
            <a:cxnLst/>
            <a:rect r="r" b="b" t="t" l="l"/>
            <a:pathLst>
              <a:path h="1301551" w="1386924">
                <a:moveTo>
                  <a:pt x="0" y="0"/>
                </a:moveTo>
                <a:lnTo>
                  <a:pt x="1386923" y="0"/>
                </a:lnTo>
                <a:lnTo>
                  <a:pt x="1386923" y="1301551"/>
                </a:lnTo>
                <a:lnTo>
                  <a:pt x="0" y="13015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68858" t="-92879" r="-122806" b="-109134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86442" y="6404152"/>
            <a:ext cx="4405595" cy="4317483"/>
          </a:xfrm>
          <a:custGeom>
            <a:avLst/>
            <a:gdLst/>
            <a:ahLst/>
            <a:cxnLst/>
            <a:rect r="r" b="b" t="t" l="l"/>
            <a:pathLst>
              <a:path h="4317483" w="4405595">
                <a:moveTo>
                  <a:pt x="0" y="0"/>
                </a:moveTo>
                <a:lnTo>
                  <a:pt x="4405595" y="0"/>
                </a:lnTo>
                <a:lnTo>
                  <a:pt x="4405595" y="4317483"/>
                </a:lnTo>
                <a:lnTo>
                  <a:pt x="0" y="43174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4880753" y="4686119"/>
            <a:ext cx="2448199" cy="5657604"/>
          </a:xfrm>
          <a:custGeom>
            <a:avLst/>
            <a:gdLst/>
            <a:ahLst/>
            <a:cxnLst/>
            <a:rect r="r" b="b" t="t" l="l"/>
            <a:pathLst>
              <a:path h="5657604" w="2448199">
                <a:moveTo>
                  <a:pt x="0" y="0"/>
                </a:moveTo>
                <a:lnTo>
                  <a:pt x="2448199" y="0"/>
                </a:lnTo>
                <a:lnTo>
                  <a:pt x="2448199" y="5657604"/>
                </a:lnTo>
                <a:lnTo>
                  <a:pt x="0" y="565760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2421304">
            <a:off x="569898" y="1105573"/>
            <a:ext cx="1816126" cy="4196930"/>
          </a:xfrm>
          <a:custGeom>
            <a:avLst/>
            <a:gdLst/>
            <a:ahLst/>
            <a:cxnLst/>
            <a:rect r="r" b="b" t="t" l="l"/>
            <a:pathLst>
              <a:path h="4196930" w="1816126">
                <a:moveTo>
                  <a:pt x="0" y="0"/>
                </a:moveTo>
                <a:lnTo>
                  <a:pt x="1816126" y="0"/>
                </a:lnTo>
                <a:lnTo>
                  <a:pt x="1816126" y="4196930"/>
                </a:lnTo>
                <a:lnTo>
                  <a:pt x="0" y="419693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4925387" y="-79995"/>
            <a:ext cx="8596337" cy="10189623"/>
          </a:xfrm>
          <a:custGeom>
            <a:avLst/>
            <a:gdLst/>
            <a:ahLst/>
            <a:cxnLst/>
            <a:rect r="r" b="b" t="t" l="l"/>
            <a:pathLst>
              <a:path h="10189623" w="8596337">
                <a:moveTo>
                  <a:pt x="0" y="0"/>
                </a:moveTo>
                <a:lnTo>
                  <a:pt x="8596337" y="0"/>
                </a:lnTo>
                <a:lnTo>
                  <a:pt x="8596337" y="10189623"/>
                </a:lnTo>
                <a:lnTo>
                  <a:pt x="0" y="1018962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5352779" y="9258300"/>
            <a:ext cx="1274852" cy="1469930"/>
          </a:xfrm>
          <a:custGeom>
            <a:avLst/>
            <a:gdLst/>
            <a:ahLst/>
            <a:cxnLst/>
            <a:rect r="r" b="b" t="t" l="l"/>
            <a:pathLst>
              <a:path h="1469930" w="1274852">
                <a:moveTo>
                  <a:pt x="0" y="0"/>
                </a:moveTo>
                <a:lnTo>
                  <a:pt x="1274852" y="0"/>
                </a:lnTo>
                <a:lnTo>
                  <a:pt x="1274852" y="1469930"/>
                </a:lnTo>
                <a:lnTo>
                  <a:pt x="0" y="14699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12551" t="-12414" r="0" b="-83742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-809845">
            <a:off x="12750372" y="8101397"/>
            <a:ext cx="1421939" cy="2313807"/>
          </a:xfrm>
          <a:custGeom>
            <a:avLst/>
            <a:gdLst/>
            <a:ahLst/>
            <a:cxnLst/>
            <a:rect r="r" b="b" t="t" l="l"/>
            <a:pathLst>
              <a:path h="2313807" w="1421939">
                <a:moveTo>
                  <a:pt x="0" y="0"/>
                </a:moveTo>
                <a:lnTo>
                  <a:pt x="1421940" y="0"/>
                </a:lnTo>
                <a:lnTo>
                  <a:pt x="1421940" y="2313806"/>
                </a:lnTo>
                <a:lnTo>
                  <a:pt x="0" y="2313806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9139238" y="4819967"/>
            <a:ext cx="952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-122719">
            <a:off x="4772694" y="1206365"/>
            <a:ext cx="8031599" cy="1560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b="true">
                <a:solidFill>
                  <a:srgbClr val="000000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Trò chơi:</a:t>
            </a:r>
          </a:p>
          <a:p>
            <a:pPr algn="ctr">
              <a:lnSpc>
                <a:spcPts val="6160"/>
              </a:lnSpc>
            </a:pPr>
            <a:r>
              <a:rPr lang="en-US" sz="4400" b="true">
                <a:solidFill>
                  <a:srgbClr val="000000"/>
                </a:solidFill>
                <a:latin typeface="DejaVu Serif Bold"/>
                <a:ea typeface="DejaVu Serif Bold"/>
                <a:cs typeface="DejaVu Serif Bold"/>
                <a:sym typeface="DejaVu Serif Bold"/>
              </a:rPr>
              <a:t> </a:t>
            </a:r>
            <a:r>
              <a:rPr lang="en-US" sz="4400">
                <a:solidFill>
                  <a:srgbClr val="000000"/>
                </a:solidFill>
                <a:latin typeface="DejaVu Serif"/>
                <a:ea typeface="DejaVu Serif"/>
                <a:cs typeface="DejaVu Serif"/>
                <a:sym typeface="DejaVu Serif"/>
              </a:rPr>
              <a:t>ĐUỔI HÌNH ĐÓN CHỮ</a:t>
            </a:r>
          </a:p>
        </p:txBody>
      </p:sp>
      <p:sp>
        <p:nvSpPr>
          <p:cNvPr name="TextBox 26" id="26"/>
          <p:cNvSpPr txBox="true"/>
          <p:nvPr/>
        </p:nvSpPr>
        <p:spPr>
          <a:xfrm rot="-96932">
            <a:off x="6215524" y="2811729"/>
            <a:ext cx="5344349" cy="5277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71"/>
              </a:lnSpc>
            </a:pPr>
            <a:r>
              <a:rPr lang="en-US" sz="3399">
                <a:solidFill>
                  <a:srgbClr val="000000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Bạn hãy vận dụng sự </a:t>
            </a:r>
            <a:r>
              <a:rPr lang="en-US" sz="3399" b="true">
                <a:solidFill>
                  <a:srgbClr val="000000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nhạy bén</a:t>
            </a:r>
            <a:r>
              <a:rPr lang="en-US" sz="3399">
                <a:solidFill>
                  <a:srgbClr val="000000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 và </a:t>
            </a:r>
            <a:r>
              <a:rPr lang="en-US" sz="3399" b="true">
                <a:solidFill>
                  <a:srgbClr val="000000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thông minh</a:t>
            </a:r>
            <a:r>
              <a:rPr lang="en-US" sz="3399">
                <a:solidFill>
                  <a:srgbClr val="000000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 của mình để </a:t>
            </a:r>
            <a:r>
              <a:rPr lang="en-US" sz="3399" i="true">
                <a:solidFill>
                  <a:srgbClr val="000000"/>
                </a:solidFill>
                <a:latin typeface="Noto Serif Display Italics"/>
                <a:ea typeface="Noto Serif Display Italics"/>
                <a:cs typeface="Noto Serif Display Italics"/>
                <a:sym typeface="Noto Serif Display Italics"/>
              </a:rPr>
              <a:t>phán đoán</a:t>
            </a:r>
            <a:r>
              <a:rPr lang="en-US" sz="3399">
                <a:solidFill>
                  <a:srgbClr val="000000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, liệu những dây thần kinh sọ não nào được nhắc đến trong bức hình?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E4A9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1237506" y="-117945"/>
            <a:ext cx="10381506" cy="10362631"/>
          </a:xfrm>
          <a:custGeom>
            <a:avLst/>
            <a:gdLst/>
            <a:ahLst/>
            <a:cxnLst/>
            <a:rect r="r" b="b" t="t" l="l"/>
            <a:pathLst>
              <a:path h="10362631" w="10381506">
                <a:moveTo>
                  <a:pt x="0" y="10362631"/>
                </a:moveTo>
                <a:lnTo>
                  <a:pt x="10381506" y="10362631"/>
                </a:lnTo>
                <a:lnTo>
                  <a:pt x="10381506" y="0"/>
                </a:lnTo>
                <a:lnTo>
                  <a:pt x="0" y="0"/>
                </a:lnTo>
                <a:lnTo>
                  <a:pt x="0" y="10362631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92163" y="607470"/>
            <a:ext cx="15703675" cy="8839917"/>
          </a:xfrm>
          <a:custGeom>
            <a:avLst/>
            <a:gdLst/>
            <a:ahLst/>
            <a:cxnLst/>
            <a:rect r="r" b="b" t="t" l="l"/>
            <a:pathLst>
              <a:path h="8839917" w="15703675">
                <a:moveTo>
                  <a:pt x="0" y="0"/>
                </a:moveTo>
                <a:lnTo>
                  <a:pt x="15703674" y="0"/>
                </a:lnTo>
                <a:lnTo>
                  <a:pt x="15703674" y="8839917"/>
                </a:lnTo>
                <a:lnTo>
                  <a:pt x="0" y="88399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510733" y="7864309"/>
            <a:ext cx="4184588" cy="2787982"/>
          </a:xfrm>
          <a:custGeom>
            <a:avLst/>
            <a:gdLst/>
            <a:ahLst/>
            <a:cxnLst/>
            <a:rect r="r" b="b" t="t" l="l"/>
            <a:pathLst>
              <a:path h="2787982" w="4184588">
                <a:moveTo>
                  <a:pt x="4184589" y="0"/>
                </a:moveTo>
                <a:lnTo>
                  <a:pt x="0" y="0"/>
                </a:lnTo>
                <a:lnTo>
                  <a:pt x="0" y="2787982"/>
                </a:lnTo>
                <a:lnTo>
                  <a:pt x="4184589" y="2787982"/>
                </a:lnTo>
                <a:lnTo>
                  <a:pt x="4184589" y="0"/>
                </a:lnTo>
                <a:close/>
              </a:path>
            </a:pathLst>
          </a:custGeom>
          <a:blipFill>
            <a:blip r:embed="rId5">
              <a:alphaModFix amt="93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1230769">
            <a:off x="10264546" y="7125603"/>
            <a:ext cx="765424" cy="845348"/>
          </a:xfrm>
          <a:custGeom>
            <a:avLst/>
            <a:gdLst/>
            <a:ahLst/>
            <a:cxnLst/>
            <a:rect r="r" b="b" t="t" l="l"/>
            <a:pathLst>
              <a:path h="845348" w="765424">
                <a:moveTo>
                  <a:pt x="765423" y="845348"/>
                </a:moveTo>
                <a:lnTo>
                  <a:pt x="0" y="845348"/>
                </a:lnTo>
                <a:lnTo>
                  <a:pt x="0" y="0"/>
                </a:lnTo>
                <a:lnTo>
                  <a:pt x="765423" y="0"/>
                </a:lnTo>
                <a:lnTo>
                  <a:pt x="765423" y="845348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602803" y="9399762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14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62139" y="8011584"/>
            <a:ext cx="1570367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000000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Dây khứu giác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30256" y="2080084"/>
            <a:ext cx="1570367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Dây thị giác</a:t>
            </a:r>
          </a:p>
        </p:txBody>
      </p:sp>
      <p:sp>
        <p:nvSpPr>
          <p:cNvPr name="Freeform 9" id="9"/>
          <p:cNvSpPr/>
          <p:nvPr/>
        </p:nvSpPr>
        <p:spPr>
          <a:xfrm flipH="true" flipV="false" rot="175299">
            <a:off x="13964321" y="2679432"/>
            <a:ext cx="765424" cy="845348"/>
          </a:xfrm>
          <a:custGeom>
            <a:avLst/>
            <a:gdLst/>
            <a:ahLst/>
            <a:cxnLst/>
            <a:rect r="r" b="b" t="t" l="l"/>
            <a:pathLst>
              <a:path h="845348" w="765424">
                <a:moveTo>
                  <a:pt x="765424" y="0"/>
                </a:moveTo>
                <a:lnTo>
                  <a:pt x="0" y="0"/>
                </a:lnTo>
                <a:lnTo>
                  <a:pt x="0" y="845347"/>
                </a:lnTo>
                <a:lnTo>
                  <a:pt x="765424" y="845347"/>
                </a:lnTo>
                <a:lnTo>
                  <a:pt x="76542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291280" y="8011584"/>
            <a:ext cx="439781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Dây tiền đình - ốc tai</a:t>
            </a:r>
          </a:p>
        </p:txBody>
      </p:sp>
      <p:sp>
        <p:nvSpPr>
          <p:cNvPr name="Freeform 11" id="11"/>
          <p:cNvSpPr/>
          <p:nvPr/>
        </p:nvSpPr>
        <p:spPr>
          <a:xfrm flipH="true" flipV="true" rot="1230769">
            <a:off x="6754101" y="7382461"/>
            <a:ext cx="765424" cy="845348"/>
          </a:xfrm>
          <a:custGeom>
            <a:avLst/>
            <a:gdLst/>
            <a:ahLst/>
            <a:cxnLst/>
            <a:rect r="r" b="b" t="t" l="l"/>
            <a:pathLst>
              <a:path h="845348" w="765424">
                <a:moveTo>
                  <a:pt x="765424" y="845347"/>
                </a:moveTo>
                <a:lnTo>
                  <a:pt x="0" y="845347"/>
                </a:lnTo>
                <a:lnTo>
                  <a:pt x="0" y="0"/>
                </a:lnTo>
                <a:lnTo>
                  <a:pt x="765424" y="0"/>
                </a:lnTo>
                <a:lnTo>
                  <a:pt x="765424" y="845347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22F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4658" y="-56723"/>
            <a:ext cx="20763012" cy="10400446"/>
            <a:chOff x="0" y="0"/>
            <a:chExt cx="27684017" cy="13867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50421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8" y="0"/>
                  </a:lnTo>
                  <a:lnTo>
                    <a:pt x="13842008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842008" y="0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9" y="0"/>
                  </a:lnTo>
                  <a:lnTo>
                    <a:pt x="13842009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523921" y="201427"/>
            <a:ext cx="14705396" cy="8800230"/>
          </a:xfrm>
          <a:custGeom>
            <a:avLst/>
            <a:gdLst/>
            <a:ahLst/>
            <a:cxnLst/>
            <a:rect r="r" b="b" t="t" l="l"/>
            <a:pathLst>
              <a:path h="8800230" w="14705396">
                <a:moveTo>
                  <a:pt x="0" y="0"/>
                </a:moveTo>
                <a:lnTo>
                  <a:pt x="14705395" y="0"/>
                </a:lnTo>
                <a:lnTo>
                  <a:pt x="14705395" y="8800230"/>
                </a:lnTo>
                <a:lnTo>
                  <a:pt x="0" y="88002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87912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6938812" y="8193816"/>
            <a:ext cx="3763062" cy="2507140"/>
          </a:xfrm>
          <a:custGeom>
            <a:avLst/>
            <a:gdLst/>
            <a:ahLst/>
            <a:cxnLst/>
            <a:rect r="r" b="b" t="t" l="l"/>
            <a:pathLst>
              <a:path h="2507140" w="3763062">
                <a:moveTo>
                  <a:pt x="3763063" y="0"/>
                </a:moveTo>
                <a:lnTo>
                  <a:pt x="0" y="0"/>
                </a:lnTo>
                <a:lnTo>
                  <a:pt x="0" y="2507141"/>
                </a:lnTo>
                <a:lnTo>
                  <a:pt x="3763063" y="2507141"/>
                </a:lnTo>
                <a:lnTo>
                  <a:pt x="3763063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602803" y="9399762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15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59513" y="2253823"/>
            <a:ext cx="295620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Dây vận nhãn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701875" y="448310"/>
            <a:ext cx="295620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Dây ròng rọc</a:t>
            </a: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5372889" y="2834213"/>
            <a:ext cx="823092" cy="909038"/>
          </a:xfrm>
          <a:custGeom>
            <a:avLst/>
            <a:gdLst/>
            <a:ahLst/>
            <a:cxnLst/>
            <a:rect r="r" b="b" t="t" l="l"/>
            <a:pathLst>
              <a:path h="909038" w="823092">
                <a:moveTo>
                  <a:pt x="823092" y="0"/>
                </a:moveTo>
                <a:lnTo>
                  <a:pt x="0" y="0"/>
                </a:lnTo>
                <a:lnTo>
                  <a:pt x="0" y="909038"/>
                </a:lnTo>
                <a:lnTo>
                  <a:pt x="823092" y="909038"/>
                </a:lnTo>
                <a:lnTo>
                  <a:pt x="82309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3611122">
            <a:off x="11252962" y="1097077"/>
            <a:ext cx="680812" cy="751901"/>
          </a:xfrm>
          <a:custGeom>
            <a:avLst/>
            <a:gdLst/>
            <a:ahLst/>
            <a:cxnLst/>
            <a:rect r="r" b="b" t="t" l="l"/>
            <a:pathLst>
              <a:path h="751901" w="680812">
                <a:moveTo>
                  <a:pt x="0" y="0"/>
                </a:moveTo>
                <a:lnTo>
                  <a:pt x="680813" y="0"/>
                </a:lnTo>
                <a:lnTo>
                  <a:pt x="680813" y="751901"/>
                </a:lnTo>
                <a:lnTo>
                  <a:pt x="0" y="7519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22F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4658" y="-56723"/>
            <a:ext cx="20763012" cy="10400446"/>
            <a:chOff x="0" y="0"/>
            <a:chExt cx="27684017" cy="13867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50421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8" y="0"/>
                  </a:lnTo>
                  <a:lnTo>
                    <a:pt x="13842008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842008" y="0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9" y="0"/>
                  </a:lnTo>
                  <a:lnTo>
                    <a:pt x="13842009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864551" y="584098"/>
            <a:ext cx="16558899" cy="9014101"/>
          </a:xfrm>
          <a:custGeom>
            <a:avLst/>
            <a:gdLst/>
            <a:ahLst/>
            <a:cxnLst/>
            <a:rect r="r" b="b" t="t" l="l"/>
            <a:pathLst>
              <a:path h="9014101" w="16558899">
                <a:moveTo>
                  <a:pt x="0" y="0"/>
                </a:moveTo>
                <a:lnTo>
                  <a:pt x="16558898" y="0"/>
                </a:lnTo>
                <a:lnTo>
                  <a:pt x="16558898" y="9014101"/>
                </a:lnTo>
                <a:lnTo>
                  <a:pt x="0" y="90141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2167" t="-4557" r="-4347" b="-4557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3893600" y="8704571"/>
            <a:ext cx="1313633" cy="1787256"/>
          </a:xfrm>
          <a:custGeom>
            <a:avLst/>
            <a:gdLst/>
            <a:ahLst/>
            <a:cxnLst/>
            <a:rect r="r" b="b" t="t" l="l"/>
            <a:pathLst>
              <a:path h="1787256" w="1313633">
                <a:moveTo>
                  <a:pt x="1313633" y="0"/>
                </a:moveTo>
                <a:lnTo>
                  <a:pt x="0" y="0"/>
                </a:lnTo>
                <a:lnTo>
                  <a:pt x="0" y="1787256"/>
                </a:lnTo>
                <a:lnTo>
                  <a:pt x="1313633" y="1787256"/>
                </a:lnTo>
                <a:lnTo>
                  <a:pt x="1313633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602803" y="9399762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16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12797" y="3284863"/>
            <a:ext cx="3560578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Dây vận nhãn ngoài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3784401">
            <a:off x="2824084" y="4019663"/>
            <a:ext cx="774302" cy="855153"/>
          </a:xfrm>
          <a:custGeom>
            <a:avLst/>
            <a:gdLst/>
            <a:ahLst/>
            <a:cxnLst/>
            <a:rect r="r" b="b" t="t" l="l"/>
            <a:pathLst>
              <a:path h="855153" w="774302">
                <a:moveTo>
                  <a:pt x="0" y="0"/>
                </a:moveTo>
                <a:lnTo>
                  <a:pt x="774302" y="0"/>
                </a:lnTo>
                <a:lnTo>
                  <a:pt x="774302" y="855153"/>
                </a:lnTo>
                <a:lnTo>
                  <a:pt x="0" y="8551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774406" y="1312939"/>
            <a:ext cx="393076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Dây phụ</a:t>
            </a:r>
          </a:p>
        </p:txBody>
      </p:sp>
      <p:sp>
        <p:nvSpPr>
          <p:cNvPr name="TextBox 11" id="11"/>
          <p:cNvSpPr txBox="true"/>
          <p:nvPr/>
        </p:nvSpPr>
        <p:spPr>
          <a:xfrm rot="2462480">
            <a:off x="14527133" y="6144939"/>
            <a:ext cx="305090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Dây hạ thiệt</a:t>
            </a:r>
          </a:p>
        </p:txBody>
      </p:sp>
      <p:sp>
        <p:nvSpPr>
          <p:cNvPr name="Freeform 12" id="12"/>
          <p:cNvSpPr/>
          <p:nvPr/>
        </p:nvSpPr>
        <p:spPr>
          <a:xfrm flipH="true" flipV="false" rot="-468534">
            <a:off x="9094173" y="2185391"/>
            <a:ext cx="938573" cy="1036577"/>
          </a:xfrm>
          <a:custGeom>
            <a:avLst/>
            <a:gdLst/>
            <a:ahLst/>
            <a:cxnLst/>
            <a:rect r="r" b="b" t="t" l="l"/>
            <a:pathLst>
              <a:path h="1036577" w="938573">
                <a:moveTo>
                  <a:pt x="938573" y="0"/>
                </a:moveTo>
                <a:lnTo>
                  <a:pt x="0" y="0"/>
                </a:lnTo>
                <a:lnTo>
                  <a:pt x="0" y="1036577"/>
                </a:lnTo>
                <a:lnTo>
                  <a:pt x="938573" y="1036577"/>
                </a:lnTo>
                <a:lnTo>
                  <a:pt x="93857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true" rot="1353419">
            <a:off x="15238306" y="4612104"/>
            <a:ext cx="1102353" cy="1217458"/>
          </a:xfrm>
          <a:custGeom>
            <a:avLst/>
            <a:gdLst/>
            <a:ahLst/>
            <a:cxnLst/>
            <a:rect r="r" b="b" t="t" l="l"/>
            <a:pathLst>
              <a:path h="1217458" w="1102353">
                <a:moveTo>
                  <a:pt x="1102353" y="1217458"/>
                </a:moveTo>
                <a:lnTo>
                  <a:pt x="0" y="1217458"/>
                </a:lnTo>
                <a:lnTo>
                  <a:pt x="0" y="0"/>
                </a:lnTo>
                <a:lnTo>
                  <a:pt x="1102353" y="0"/>
                </a:lnTo>
                <a:lnTo>
                  <a:pt x="1102353" y="1217458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1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14658" y="-56723"/>
            <a:ext cx="20763012" cy="10400446"/>
            <a:chOff x="0" y="0"/>
            <a:chExt cx="27684017" cy="13867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50421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8" y="0"/>
                  </a:lnTo>
                  <a:lnTo>
                    <a:pt x="13842008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842008" y="0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9" y="0"/>
                  </a:lnTo>
                  <a:lnTo>
                    <a:pt x="13842009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768647" y="1550110"/>
            <a:ext cx="16750705" cy="7186780"/>
          </a:xfrm>
          <a:custGeom>
            <a:avLst/>
            <a:gdLst/>
            <a:ahLst/>
            <a:cxnLst/>
            <a:rect r="r" b="b" t="t" l="l"/>
            <a:pathLst>
              <a:path h="7186780" w="16750705">
                <a:moveTo>
                  <a:pt x="0" y="0"/>
                </a:moveTo>
                <a:lnTo>
                  <a:pt x="16750706" y="0"/>
                </a:lnTo>
                <a:lnTo>
                  <a:pt x="16750706" y="7186780"/>
                </a:lnTo>
                <a:lnTo>
                  <a:pt x="0" y="71867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99" t="-1300" r="-144" b="-2462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602803" y="9399762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555555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17</a:t>
            </a:r>
          </a:p>
        </p:txBody>
      </p:sp>
      <p:sp>
        <p:nvSpPr>
          <p:cNvPr name="Freeform 7" id="7"/>
          <p:cNvSpPr/>
          <p:nvPr/>
        </p:nvSpPr>
        <p:spPr>
          <a:xfrm flipH="true" flipV="false" rot="0">
            <a:off x="15417711" y="8217930"/>
            <a:ext cx="3192680" cy="2125793"/>
          </a:xfrm>
          <a:custGeom>
            <a:avLst/>
            <a:gdLst/>
            <a:ahLst/>
            <a:cxnLst/>
            <a:rect r="r" b="b" t="t" l="l"/>
            <a:pathLst>
              <a:path h="2125793" w="3192680">
                <a:moveTo>
                  <a:pt x="3192680" y="0"/>
                </a:moveTo>
                <a:lnTo>
                  <a:pt x="0" y="0"/>
                </a:lnTo>
                <a:lnTo>
                  <a:pt x="0" y="2125793"/>
                </a:lnTo>
                <a:lnTo>
                  <a:pt x="3192680" y="2125793"/>
                </a:lnTo>
                <a:lnTo>
                  <a:pt x="319268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-71777">
            <a:off x="1273887" y="7760327"/>
            <a:ext cx="250293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Dây sinh ba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94140" y="7954122"/>
            <a:ext cx="250293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Dây mặt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911236" y="191452"/>
            <a:ext cx="321706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Dây lang thang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249429" y="705167"/>
            <a:ext cx="321706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Dây thiệt hầu</a:t>
            </a:r>
          </a:p>
        </p:txBody>
      </p:sp>
      <p:sp>
        <p:nvSpPr>
          <p:cNvPr name="Freeform 12" id="12"/>
          <p:cNvSpPr/>
          <p:nvPr/>
        </p:nvSpPr>
        <p:spPr>
          <a:xfrm flipH="true" flipV="true" rot="5664619">
            <a:off x="3834700" y="7578198"/>
            <a:ext cx="585196" cy="646301"/>
          </a:xfrm>
          <a:custGeom>
            <a:avLst/>
            <a:gdLst/>
            <a:ahLst/>
            <a:cxnLst/>
            <a:rect r="r" b="b" t="t" l="l"/>
            <a:pathLst>
              <a:path h="646301" w="585196">
                <a:moveTo>
                  <a:pt x="585197" y="646301"/>
                </a:moveTo>
                <a:lnTo>
                  <a:pt x="0" y="646301"/>
                </a:lnTo>
                <a:lnTo>
                  <a:pt x="0" y="0"/>
                </a:lnTo>
                <a:lnTo>
                  <a:pt x="585197" y="0"/>
                </a:lnTo>
                <a:lnTo>
                  <a:pt x="585197" y="646301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true" rot="9463776">
            <a:off x="14441471" y="1548070"/>
            <a:ext cx="832985" cy="919964"/>
          </a:xfrm>
          <a:custGeom>
            <a:avLst/>
            <a:gdLst/>
            <a:ahLst/>
            <a:cxnLst/>
            <a:rect r="r" b="b" t="t" l="l"/>
            <a:pathLst>
              <a:path h="919964" w="832985">
                <a:moveTo>
                  <a:pt x="0" y="919963"/>
                </a:moveTo>
                <a:lnTo>
                  <a:pt x="832985" y="919963"/>
                </a:lnTo>
                <a:lnTo>
                  <a:pt x="832985" y="0"/>
                </a:lnTo>
                <a:lnTo>
                  <a:pt x="0" y="0"/>
                </a:lnTo>
                <a:lnTo>
                  <a:pt x="0" y="91996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true" rot="-9756414">
            <a:off x="9227219" y="844532"/>
            <a:ext cx="585196" cy="646301"/>
          </a:xfrm>
          <a:custGeom>
            <a:avLst/>
            <a:gdLst/>
            <a:ahLst/>
            <a:cxnLst/>
            <a:rect r="r" b="b" t="t" l="l"/>
            <a:pathLst>
              <a:path h="646301" w="585196">
                <a:moveTo>
                  <a:pt x="585197" y="646301"/>
                </a:moveTo>
                <a:lnTo>
                  <a:pt x="0" y="646301"/>
                </a:lnTo>
                <a:lnTo>
                  <a:pt x="0" y="0"/>
                </a:lnTo>
                <a:lnTo>
                  <a:pt x="585197" y="0"/>
                </a:lnTo>
                <a:lnTo>
                  <a:pt x="585197" y="646301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true" rot="-893747">
            <a:off x="11218472" y="7394118"/>
            <a:ext cx="720477" cy="795708"/>
          </a:xfrm>
          <a:custGeom>
            <a:avLst/>
            <a:gdLst/>
            <a:ahLst/>
            <a:cxnLst/>
            <a:rect r="r" b="b" t="t" l="l"/>
            <a:pathLst>
              <a:path h="795708" w="720477">
                <a:moveTo>
                  <a:pt x="720478" y="795708"/>
                </a:moveTo>
                <a:lnTo>
                  <a:pt x="0" y="795708"/>
                </a:lnTo>
                <a:lnTo>
                  <a:pt x="0" y="0"/>
                </a:lnTo>
                <a:lnTo>
                  <a:pt x="720478" y="0"/>
                </a:lnTo>
                <a:lnTo>
                  <a:pt x="720478" y="795708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22F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37506" y="-56723"/>
            <a:ext cx="20763012" cy="10400446"/>
            <a:chOff x="0" y="0"/>
            <a:chExt cx="27684017" cy="13867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50421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8" y="0"/>
                  </a:lnTo>
                  <a:lnTo>
                    <a:pt x="13842008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842008" y="0"/>
              <a:ext cx="13842008" cy="13816841"/>
            </a:xfrm>
            <a:custGeom>
              <a:avLst/>
              <a:gdLst/>
              <a:ahLst/>
              <a:cxnLst/>
              <a:rect r="r" b="b" t="t" l="l"/>
              <a:pathLst>
                <a:path h="13816841" w="13842008">
                  <a:moveTo>
                    <a:pt x="0" y="0"/>
                  </a:moveTo>
                  <a:lnTo>
                    <a:pt x="13842009" y="0"/>
                  </a:lnTo>
                  <a:lnTo>
                    <a:pt x="13842009" y="13816841"/>
                  </a:lnTo>
                  <a:lnTo>
                    <a:pt x="0" y="13816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57275"/>
            <a:ext cx="16230600" cy="8229600"/>
            <a:chOff x="0" y="0"/>
            <a:chExt cx="6851469" cy="34739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-1270"/>
              <a:ext cx="6852739" cy="3472714"/>
            </a:xfrm>
            <a:custGeom>
              <a:avLst/>
              <a:gdLst/>
              <a:ahLst/>
              <a:cxnLst/>
              <a:rect r="r" b="b" t="t" l="l"/>
              <a:pathLst>
                <a:path h="3472714" w="6852739">
                  <a:moveTo>
                    <a:pt x="6841309" y="27940"/>
                  </a:moveTo>
                  <a:cubicBezTo>
                    <a:pt x="6832419" y="24130"/>
                    <a:pt x="6823529" y="21590"/>
                    <a:pt x="6814639" y="21590"/>
                  </a:cubicBezTo>
                  <a:cubicBezTo>
                    <a:pt x="6787969" y="20320"/>
                    <a:pt x="6687027" y="20320"/>
                    <a:pt x="6573396" y="17780"/>
                  </a:cubicBezTo>
                  <a:cubicBezTo>
                    <a:pt x="6313667" y="12700"/>
                    <a:pt x="6059349" y="6350"/>
                    <a:pt x="5799620" y="3810"/>
                  </a:cubicBezTo>
                  <a:cubicBezTo>
                    <a:pt x="5588590" y="1270"/>
                    <a:pt x="5382971" y="3810"/>
                    <a:pt x="5171941" y="2540"/>
                  </a:cubicBezTo>
                  <a:cubicBezTo>
                    <a:pt x="5079953" y="2540"/>
                    <a:pt x="4987966" y="0"/>
                    <a:pt x="4895979" y="2540"/>
                  </a:cubicBezTo>
                  <a:cubicBezTo>
                    <a:pt x="4674127" y="10160"/>
                    <a:pt x="4452275" y="11430"/>
                    <a:pt x="4225012" y="8890"/>
                  </a:cubicBezTo>
                  <a:cubicBezTo>
                    <a:pt x="4111380" y="7620"/>
                    <a:pt x="3997749" y="7620"/>
                    <a:pt x="3884117" y="7620"/>
                  </a:cubicBezTo>
                  <a:cubicBezTo>
                    <a:pt x="3678498" y="7620"/>
                    <a:pt x="3472879" y="7620"/>
                    <a:pt x="3267261" y="6350"/>
                  </a:cubicBezTo>
                  <a:cubicBezTo>
                    <a:pt x="3050820" y="5080"/>
                    <a:pt x="918876" y="2540"/>
                    <a:pt x="707846" y="1270"/>
                  </a:cubicBezTo>
                  <a:cubicBezTo>
                    <a:pt x="534693" y="0"/>
                    <a:pt x="366952" y="1270"/>
                    <a:pt x="193799" y="1270"/>
                  </a:cubicBezTo>
                  <a:cubicBezTo>
                    <a:pt x="74756" y="1270"/>
                    <a:pt x="33020" y="3810"/>
                    <a:pt x="5080" y="5080"/>
                  </a:cubicBezTo>
                  <a:cubicBezTo>
                    <a:pt x="3810" y="5080"/>
                    <a:pt x="2540" y="7620"/>
                    <a:pt x="0" y="8890"/>
                  </a:cubicBezTo>
                  <a:cubicBezTo>
                    <a:pt x="1270" y="21590"/>
                    <a:pt x="3810" y="34290"/>
                    <a:pt x="5080" y="46990"/>
                  </a:cubicBezTo>
                  <a:cubicBezTo>
                    <a:pt x="15240" y="176461"/>
                    <a:pt x="16510" y="329751"/>
                    <a:pt x="17780" y="480352"/>
                  </a:cubicBezTo>
                  <a:cubicBezTo>
                    <a:pt x="19050" y="633642"/>
                    <a:pt x="17780" y="786931"/>
                    <a:pt x="16510" y="942911"/>
                  </a:cubicBezTo>
                  <a:cubicBezTo>
                    <a:pt x="15240" y="1101579"/>
                    <a:pt x="2540" y="2766254"/>
                    <a:pt x="2540" y="2924922"/>
                  </a:cubicBezTo>
                  <a:cubicBezTo>
                    <a:pt x="2540" y="3080901"/>
                    <a:pt x="1270" y="3236880"/>
                    <a:pt x="0" y="3392859"/>
                  </a:cubicBezTo>
                  <a:cubicBezTo>
                    <a:pt x="0" y="3418104"/>
                    <a:pt x="3810" y="3428264"/>
                    <a:pt x="15240" y="3433344"/>
                  </a:cubicBezTo>
                  <a:cubicBezTo>
                    <a:pt x="22860" y="3437154"/>
                    <a:pt x="31750" y="3439694"/>
                    <a:pt x="40640" y="3440964"/>
                  </a:cubicBezTo>
                  <a:cubicBezTo>
                    <a:pt x="188388" y="3446044"/>
                    <a:pt x="394007" y="3449854"/>
                    <a:pt x="599625" y="3454934"/>
                  </a:cubicBezTo>
                  <a:cubicBezTo>
                    <a:pt x="713257" y="3457474"/>
                    <a:pt x="826888" y="3462554"/>
                    <a:pt x="940520" y="3463824"/>
                  </a:cubicBezTo>
                  <a:cubicBezTo>
                    <a:pt x="1129906" y="3466364"/>
                    <a:pt x="3240205" y="3467634"/>
                    <a:pt x="3429591" y="3468904"/>
                  </a:cubicBezTo>
                  <a:cubicBezTo>
                    <a:pt x="3456646" y="3468904"/>
                    <a:pt x="3483701" y="3468904"/>
                    <a:pt x="3510756" y="3468904"/>
                  </a:cubicBezTo>
                  <a:cubicBezTo>
                    <a:pt x="3640621" y="3468904"/>
                    <a:pt x="3775897" y="3467634"/>
                    <a:pt x="3905761" y="3467634"/>
                  </a:cubicBezTo>
                  <a:cubicBezTo>
                    <a:pt x="4057270" y="3467634"/>
                    <a:pt x="4203367" y="3468904"/>
                    <a:pt x="4354876" y="3468904"/>
                  </a:cubicBezTo>
                  <a:cubicBezTo>
                    <a:pt x="4576728" y="3468904"/>
                    <a:pt x="4803991" y="3468904"/>
                    <a:pt x="5025843" y="3468904"/>
                  </a:cubicBezTo>
                  <a:cubicBezTo>
                    <a:pt x="5231462" y="3468904"/>
                    <a:pt x="5437081" y="3470174"/>
                    <a:pt x="5642700" y="3471444"/>
                  </a:cubicBezTo>
                  <a:cubicBezTo>
                    <a:pt x="5734687" y="3471444"/>
                    <a:pt x="5832086" y="3472714"/>
                    <a:pt x="5924073" y="3472714"/>
                  </a:cubicBezTo>
                  <a:cubicBezTo>
                    <a:pt x="6221680" y="3471444"/>
                    <a:pt x="6513874" y="3465094"/>
                    <a:pt x="6791779" y="3465094"/>
                  </a:cubicBezTo>
                  <a:cubicBezTo>
                    <a:pt x="6795589" y="3465094"/>
                    <a:pt x="6800669" y="3462554"/>
                    <a:pt x="6804479" y="3460014"/>
                  </a:cubicBezTo>
                  <a:cubicBezTo>
                    <a:pt x="6809559" y="3456204"/>
                    <a:pt x="6812099" y="3449854"/>
                    <a:pt x="6814639" y="3447314"/>
                  </a:cubicBezTo>
                  <a:cubicBezTo>
                    <a:pt x="6815909" y="3374034"/>
                    <a:pt x="6817179" y="3261084"/>
                    <a:pt x="6818449" y="3148133"/>
                  </a:cubicBezTo>
                  <a:cubicBezTo>
                    <a:pt x="6819719" y="2973329"/>
                    <a:pt x="6829879" y="1295208"/>
                    <a:pt x="6831149" y="1120404"/>
                  </a:cubicBezTo>
                  <a:cubicBezTo>
                    <a:pt x="6831149" y="1015521"/>
                    <a:pt x="6832419" y="910639"/>
                    <a:pt x="6833689" y="805756"/>
                  </a:cubicBezTo>
                  <a:cubicBezTo>
                    <a:pt x="6834959" y="692806"/>
                    <a:pt x="6836229" y="579856"/>
                    <a:pt x="6838769" y="466905"/>
                  </a:cubicBezTo>
                  <a:cubicBezTo>
                    <a:pt x="6840039" y="399673"/>
                    <a:pt x="6840039" y="329751"/>
                    <a:pt x="6845119" y="262519"/>
                  </a:cubicBezTo>
                  <a:cubicBezTo>
                    <a:pt x="6850199" y="181840"/>
                    <a:pt x="6852739" y="103850"/>
                    <a:pt x="6851469" y="44450"/>
                  </a:cubicBezTo>
                  <a:cubicBezTo>
                    <a:pt x="6851469" y="38100"/>
                    <a:pt x="6847659" y="30480"/>
                    <a:pt x="6841309" y="279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-10502482">
            <a:off x="13730111" y="2535288"/>
            <a:ext cx="1175211" cy="975083"/>
          </a:xfrm>
          <a:custGeom>
            <a:avLst/>
            <a:gdLst/>
            <a:ahLst/>
            <a:cxnLst/>
            <a:rect r="r" b="b" t="t" l="l"/>
            <a:pathLst>
              <a:path h="975083" w="1175211">
                <a:moveTo>
                  <a:pt x="0" y="0"/>
                </a:moveTo>
                <a:lnTo>
                  <a:pt x="1175211" y="0"/>
                </a:lnTo>
                <a:lnTo>
                  <a:pt x="1175211" y="975083"/>
                </a:lnTo>
                <a:lnTo>
                  <a:pt x="0" y="9750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73076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10502482">
            <a:off x="3469757" y="2386584"/>
            <a:ext cx="1175211" cy="975083"/>
          </a:xfrm>
          <a:custGeom>
            <a:avLst/>
            <a:gdLst/>
            <a:ahLst/>
            <a:cxnLst/>
            <a:rect r="r" b="b" t="t" l="l"/>
            <a:pathLst>
              <a:path h="975083" w="1175211">
                <a:moveTo>
                  <a:pt x="1175212" y="0"/>
                </a:moveTo>
                <a:lnTo>
                  <a:pt x="0" y="0"/>
                </a:lnTo>
                <a:lnTo>
                  <a:pt x="0" y="975083"/>
                </a:lnTo>
                <a:lnTo>
                  <a:pt x="1175212" y="975083"/>
                </a:lnTo>
                <a:lnTo>
                  <a:pt x="117521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73076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5865044" y="4946975"/>
            <a:ext cx="6557912" cy="3754404"/>
          </a:xfrm>
          <a:custGeom>
            <a:avLst/>
            <a:gdLst/>
            <a:ahLst/>
            <a:cxnLst/>
            <a:rect r="r" b="b" t="t" l="l"/>
            <a:pathLst>
              <a:path h="3754404" w="6557912">
                <a:moveTo>
                  <a:pt x="6557912" y="0"/>
                </a:moveTo>
                <a:lnTo>
                  <a:pt x="0" y="0"/>
                </a:lnTo>
                <a:lnTo>
                  <a:pt x="0" y="3754404"/>
                </a:lnTo>
                <a:lnTo>
                  <a:pt x="6557912" y="3754404"/>
                </a:lnTo>
                <a:lnTo>
                  <a:pt x="6557912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602803" y="9399762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Noto Serif Display Bold"/>
                <a:ea typeface="Noto Serif Display Bold"/>
                <a:cs typeface="Noto Serif Display Bold"/>
                <a:sym typeface="Noto Serif Display Bold"/>
              </a:rPr>
              <a:t>18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90546" y="2392904"/>
            <a:ext cx="4968525" cy="2094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40"/>
              </a:lnSpc>
            </a:pPr>
            <a:r>
              <a:rPr lang="en-US" sz="12243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_END_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8780" y="7227109"/>
            <a:ext cx="16230600" cy="2277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Thành viên: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Y Gia Min​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Đặng Thị Hồng Tuyên​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Phạm Thị Thanh Loan​</a:t>
            </a:r>
          </a:p>
          <a:p>
            <a:pPr algn="l">
              <a:lnSpc>
                <a:spcPts val="3640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DAG1CBWmVnY</dc:identifier>
  <dcterms:modified xsi:type="dcterms:W3CDTF">2011-08-01T06:04:30Z</dcterms:modified>
  <cp:revision>1</cp:revision>
  <dc:title>The Circulatory System Education Presentation in Peach Red Blue Hand Drawn Style</dc:title>
</cp:coreProperties>
</file>